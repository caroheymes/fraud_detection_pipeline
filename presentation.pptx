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94" r:id="rId3"/>
    <p:sldId id="286" r:id="rId4"/>
    <p:sldId id="296" r:id="rId5"/>
    <p:sldId id="301" r:id="rId6"/>
    <p:sldId id="295" r:id="rId7"/>
    <p:sldId id="297" r:id="rId8"/>
    <p:sldId id="298" r:id="rId9"/>
    <p:sldId id="299" r:id="rId10"/>
    <p:sldId id="300" r:id="rId11"/>
    <p:sldId id="302" r:id="rId12"/>
    <p:sldId id="309" r:id="rId13"/>
    <p:sldId id="307" r:id="rId14"/>
    <p:sldId id="308" r:id="rId15"/>
    <p:sldId id="310" r:id="rId16"/>
    <p:sldId id="303" r:id="rId17"/>
    <p:sldId id="257" r:id="rId18"/>
    <p:sldId id="311" r:id="rId19"/>
    <p:sldId id="304" r:id="rId20"/>
    <p:sldId id="305" r:id="rId21"/>
    <p:sldId id="30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B981"/>
    <a:srgbClr val="64748B"/>
    <a:srgbClr val="47556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3436" autoAdjust="0"/>
  </p:normalViewPr>
  <p:slideViewPr>
    <p:cSldViewPr snapToGrid="0" snapToObjects="1">
      <p:cViewPr>
        <p:scale>
          <a:sx n="100" d="100"/>
          <a:sy n="100" d="100"/>
        </p:scale>
        <p:origin x="936" y="-7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3040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mise en place d'un pipeline de données robuste et industriel pour la détection de fraude bancaire. L'objectif a été de concevoir un écosystème hybride, à la fois synchrone pour les prédictions en temps réel, et asynchrone pour les traitements de masse, le monitoring et le réentraînement continu du modèle. </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85304-0E3F-F8EE-EF91-33205291C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E37B2-2058-5F7C-ACF2-7B84C74246A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30C6474-1EB7-0B49-1CAE-D9E603CFC443}"/>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Cette soutenance s'articulera autour de trois grands axes : nous débuterons par le cadrage métier et les contraintes de performance opérationnelle. Ensuite, nous détaillerons les composants de notre architecture technique. Enfin, nous aborderons les aspects de qualité logicielle, d'intégration continue et de gouvernance de notre modèle en production.</a:t>
            </a:r>
          </a:p>
        </p:txBody>
      </p:sp>
      <p:sp>
        <p:nvSpPr>
          <p:cNvPr id="4" name="Slide Number Placeholder 3">
            <a:extLst>
              <a:ext uri="{FF2B5EF4-FFF2-40B4-BE49-F238E27FC236}">
                <a16:creationId xmlns:a16="http://schemas.microsoft.com/office/drawing/2014/main" id="{11AD234A-C336-9C48-5CB0-6E91B70B139D}"/>
              </a:ext>
            </a:extLst>
          </p:cNvPr>
          <p:cNvSpPr>
            <a:spLocks noGrp="1"/>
          </p:cNvSpPr>
          <p:nvPr>
            <p:ph type="sldNum" sz="quarter" idx="5"/>
          </p:nvPr>
        </p:nvSpPr>
        <p:spPr/>
      </p:sp>
    </p:spTree>
    <p:extLst>
      <p:ext uri="{BB962C8B-B14F-4D97-AF65-F5344CB8AC3E}">
        <p14:creationId xmlns:p14="http://schemas.microsoft.com/office/powerpoint/2010/main" val="2433940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5B3B7-07A9-BC35-2D78-1E00EE092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D42D3-8160-39C3-1198-2ED45E10B6B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AFC40E-DCA0-D52F-FF4D-E8185BD41158}"/>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En matière de détection de fraude, le cadrage technique découle directement des besoins métier. Nous avons trois exigences clés : premièrement, une contrainte de temps réel avec une latence d'inférence strictement inférieure à 100 millisecondes. Deuxièmement, une fiabilité à toute épreuve : le système d'ingestion doit absorber les données sans perte, même en cas d'interruption temporaire de la base de données. Enfin, sur le plan réglementaire et de la gouvernance, nous devons identifier toute dérive des données sous 24 heures et automatiser le réentraînement.</a:t>
            </a:r>
          </a:p>
          <a:p>
            <a:endParaRPr lang="fr-FR" dirty="0"/>
          </a:p>
          <a:p>
            <a:endParaRPr lang="fr-FR" dirty="0"/>
          </a:p>
          <a:p>
            <a:r>
              <a:rPr lang="fr-FR" dirty="0" err="1"/>
              <a:t>Precision</a:t>
            </a:r>
            <a:r>
              <a:rPr lang="fr-FR" dirty="0"/>
              <a:t> = exactitude des prédictions positives</a:t>
            </a:r>
          </a:p>
          <a:p>
            <a:r>
              <a:rPr lang="fr-FR" dirty="0"/>
              <a:t>Rappel = </a:t>
            </a:r>
            <a:r>
              <a:rPr lang="fr-FR" sz="1200" b="0" i="0" kern="1200" dirty="0">
                <a:solidFill>
                  <a:schemeClr val="tx1"/>
                </a:solidFill>
                <a:effectLst/>
                <a:latin typeface="+mn-lt"/>
                <a:ea typeface="+mn-ea"/>
                <a:cs typeface="+mn-cs"/>
              </a:rPr>
              <a:t> </a:t>
            </a:r>
            <a:r>
              <a:rPr lang="fr-FR" sz="1200" b="1" i="0" kern="1200" dirty="0">
                <a:solidFill>
                  <a:schemeClr val="tx1"/>
                </a:solidFill>
                <a:effectLst/>
                <a:latin typeface="+mn-lt"/>
                <a:ea typeface="+mn-ea"/>
                <a:cs typeface="+mn-cs"/>
              </a:rPr>
              <a:t>taux de vrais positifs TP /TP + FN</a:t>
            </a:r>
          </a:p>
          <a:p>
            <a:endParaRPr lang="fr-FR" sz="1200" b="1" i="0" kern="1200" dirty="0">
              <a:solidFill>
                <a:schemeClr val="tx1"/>
              </a:solidFill>
              <a:effectLst/>
              <a:latin typeface="+mn-lt"/>
              <a:ea typeface="+mn-ea"/>
              <a:cs typeface="+mn-cs"/>
            </a:endParaRPr>
          </a:p>
          <a:p>
            <a:pPr>
              <a:spcAft>
                <a:spcPts val="1000"/>
              </a:spcAft>
              <a:defRPr sz="2600">
                <a:solidFill>
                  <a:srgbClr val="0F172A"/>
                </a:solidFill>
                <a:latin typeface="Segoe UI"/>
              </a:defRPr>
            </a:pPr>
            <a:r>
              <a:rPr lang="fr-FR" dirty="0"/>
              <a:t>La formule donne 2 fois plus de poids au Rappel qu'à la Précision.</a:t>
            </a:r>
          </a:p>
          <a:p>
            <a:pPr>
              <a:spcAft>
                <a:spcPts val="1000"/>
              </a:spcAft>
              <a:defRPr sz="2600">
                <a:solidFill>
                  <a:srgbClr val="0F172A"/>
                </a:solidFill>
                <a:latin typeface="Segoe UI"/>
              </a:defRPr>
            </a:pPr>
            <a:r>
              <a:rPr lang="fr-FR" dirty="0"/>
              <a:t>Objectif opérationnel : Capturer un maximum de fraudes quitte à accepter quelques fausses alertes faciles à lever pour le marchand.</a:t>
            </a:r>
          </a:p>
          <a:p>
            <a:endParaRPr dirty="0"/>
          </a:p>
        </p:txBody>
      </p:sp>
      <p:sp>
        <p:nvSpPr>
          <p:cNvPr id="4" name="Slide Number Placeholder 3">
            <a:extLst>
              <a:ext uri="{FF2B5EF4-FFF2-40B4-BE49-F238E27FC236}">
                <a16:creationId xmlns:a16="http://schemas.microsoft.com/office/drawing/2014/main" id="{C6AB7D56-042E-CBFE-1655-B88642400FC3}"/>
              </a:ext>
            </a:extLst>
          </p:cNvPr>
          <p:cNvSpPr>
            <a:spLocks noGrp="1"/>
          </p:cNvSpPr>
          <p:nvPr>
            <p:ph type="sldNum" sz="quarter" idx="5"/>
          </p:nvPr>
        </p:nvSpPr>
        <p:spPr/>
      </p:sp>
    </p:spTree>
    <p:extLst>
      <p:ext uri="{BB962C8B-B14F-4D97-AF65-F5344CB8AC3E}">
        <p14:creationId xmlns:p14="http://schemas.microsoft.com/office/powerpoint/2010/main" val="382470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07C74-21E4-0C78-6C90-A2CC646DF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3E0A3-88A8-486C-373C-7F5B031C1C2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277567A-8072-DE8C-B3F2-8772CFBF2F5B}"/>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Passons maintenant au cœur technique de notre solution, avec la présentation détaillée des différents composants de notre architecture</a:t>
            </a:r>
          </a:p>
          <a:p>
            <a:endParaRPr dirty="0"/>
          </a:p>
        </p:txBody>
      </p:sp>
      <p:sp>
        <p:nvSpPr>
          <p:cNvPr id="4" name="Slide Number Placeholder 3">
            <a:extLst>
              <a:ext uri="{FF2B5EF4-FFF2-40B4-BE49-F238E27FC236}">
                <a16:creationId xmlns:a16="http://schemas.microsoft.com/office/drawing/2014/main" id="{A5CF4BE4-AA8A-C5AA-D294-878B991E2046}"/>
              </a:ext>
            </a:extLst>
          </p:cNvPr>
          <p:cNvSpPr>
            <a:spLocks noGrp="1"/>
          </p:cNvSpPr>
          <p:nvPr>
            <p:ph type="sldNum" sz="quarter" idx="5"/>
          </p:nvPr>
        </p:nvSpPr>
        <p:spPr/>
      </p:sp>
    </p:spTree>
    <p:extLst>
      <p:ext uri="{BB962C8B-B14F-4D97-AF65-F5344CB8AC3E}">
        <p14:creationId xmlns:p14="http://schemas.microsoft.com/office/powerpoint/2010/main" val="1482480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6298B-6CBE-55CE-6FB9-ADF461B92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2C389-DE24-04C7-96C0-BD398AD2E59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99CD2C-7B88-8F1F-92B8-01F810CB8441}"/>
              </a:ext>
            </a:extLst>
          </p:cNvPr>
          <p:cNvSpPr>
            <a:spLocks noGrp="1"/>
          </p:cNvSpPr>
          <p:nvPr>
            <p:ph type="body" sz="quarter" idx="3"/>
          </p:nvPr>
        </p:nvSpPr>
        <p:spPr/>
        <p:txBody>
          <a:bodyPr/>
          <a:lstStyle/>
          <a:p>
            <a:r>
              <a:rPr lang="fr-FR" sz="1200" b="0" kern="1200" dirty="0">
                <a:solidFill>
                  <a:schemeClr val="tx1"/>
                </a:solidFill>
                <a:effectLst/>
                <a:latin typeface="+mn-lt"/>
                <a:ea typeface="+mn-ea"/>
                <a:cs typeface="+mn-cs"/>
              </a:rPr>
              <a:t>Pour stocker et exploiter nos données, nous utilisons une stratégie hybride articulée autour de trois technologies :</a:t>
            </a:r>
          </a:p>
          <a:p>
            <a:r>
              <a:rPr lang="fr-FR" sz="1200" b="0" kern="1200" dirty="0">
                <a:solidFill>
                  <a:schemeClr val="tx1"/>
                </a:solidFill>
                <a:effectLst/>
                <a:latin typeface="+mn-lt"/>
                <a:ea typeface="+mn-ea"/>
                <a:cs typeface="+mn-cs"/>
              </a:rPr>
              <a:t>&gt; PostgreSQL sert de base transactionnelle. C'est un registre immuable, configuré en écriture seule. Pour respecter strictement le RGPD, nous appliquons un hachage sur les numéros de cartes de crédit.</a:t>
            </a:r>
          </a:p>
          <a:p>
            <a:r>
              <a:rPr lang="fr-FR" sz="1200" b="0" kern="1200" dirty="0">
                <a:solidFill>
                  <a:schemeClr val="tx1"/>
                </a:solidFill>
                <a:effectLst/>
                <a:latin typeface="+mn-lt"/>
                <a:ea typeface="+mn-ea"/>
                <a:cs typeface="+mn-cs"/>
              </a:rPr>
              <a:t>&gt; L'analyse décisionnelle et la création de rapports complexes sont déportées sur d'autres tables via l'outil </a:t>
            </a:r>
            <a:r>
              <a:rPr lang="fr-FR" sz="1200" b="0" kern="1200" dirty="0" err="1">
                <a:solidFill>
                  <a:schemeClr val="tx1"/>
                </a:solidFill>
                <a:effectLst/>
                <a:latin typeface="+mn-lt"/>
                <a:ea typeface="+mn-ea"/>
                <a:cs typeface="+mn-cs"/>
              </a:rPr>
              <a:t>dbt</a:t>
            </a:r>
            <a:r>
              <a:rPr lang="fr-FR" sz="1200" b="0" kern="1200" dirty="0">
                <a:solidFill>
                  <a:schemeClr val="tx1"/>
                </a:solidFill>
                <a:effectLst/>
                <a:latin typeface="+mn-lt"/>
                <a:ea typeface="+mn-ea"/>
                <a:cs typeface="+mn-cs"/>
              </a:rPr>
              <a:t>.</a:t>
            </a:r>
          </a:p>
          <a:p>
            <a:r>
              <a:rPr lang="fr-FR" sz="1200" b="0" kern="1200" dirty="0">
                <a:solidFill>
                  <a:schemeClr val="tx1"/>
                </a:solidFill>
                <a:effectLst/>
                <a:latin typeface="+mn-lt"/>
                <a:ea typeface="+mn-ea"/>
                <a:cs typeface="+mn-cs"/>
              </a:rPr>
              <a:t>&gt; Enfin, pour les prédictions en temps réel, nous utilisons Redis comme </a:t>
            </a:r>
            <a:r>
              <a:rPr lang="fr-FR" sz="1200" b="0" kern="1200" dirty="0" err="1">
                <a:solidFill>
                  <a:schemeClr val="tx1"/>
                </a:solidFill>
                <a:effectLst/>
                <a:latin typeface="+mn-lt"/>
                <a:ea typeface="+mn-ea"/>
                <a:cs typeface="+mn-cs"/>
              </a:rPr>
              <a:t>Feature</a:t>
            </a:r>
            <a:r>
              <a:rPr lang="fr-FR" sz="1200" b="0" kern="1200" dirty="0">
                <a:solidFill>
                  <a:schemeClr val="tx1"/>
                </a:solidFill>
                <a:effectLst/>
                <a:latin typeface="+mn-lt"/>
                <a:ea typeface="+mn-ea"/>
                <a:cs typeface="+mn-cs"/>
              </a:rPr>
              <a:t> Store. Il nous permet d'accéder aux données et aux règles de suspicion en temps constant, sous les 2 millisecondes. </a:t>
            </a:r>
          </a:p>
          <a:p>
            <a:endParaRPr lang="fr-FR" dirty="0"/>
          </a:p>
          <a:p>
            <a:endParaRPr lang="fr-FR" dirty="0"/>
          </a:p>
          <a:p>
            <a:endParaRPr lang="fr-FR" dirty="0"/>
          </a:p>
          <a:p>
            <a:endParaRPr lang="fr-FR" dirty="0"/>
          </a:p>
          <a:p>
            <a:r>
              <a:rPr lang="fr-FR" dirty="0"/>
              <a:t>Contrairement au bloc 2 on a supprimé </a:t>
            </a:r>
            <a:r>
              <a:rPr lang="fr-FR" dirty="0" err="1"/>
              <a:t>Mongodb</a:t>
            </a:r>
            <a:r>
              <a:rPr lang="fr-FR" dirty="0"/>
              <a:t> pour la gestion des profils marchands ! </a:t>
            </a:r>
          </a:p>
          <a:p>
            <a:endParaRPr lang="fr-FR" dirty="0"/>
          </a:p>
          <a:p>
            <a:r>
              <a:rPr lang="fr-FR" sz="1200" b="0" kern="1200" dirty="0">
                <a:solidFill>
                  <a:schemeClr val="tx1"/>
                </a:solidFill>
                <a:effectLst/>
                <a:latin typeface="+mn-lt"/>
                <a:ea typeface="+mn-ea"/>
                <a:cs typeface="+mn-cs"/>
              </a:rPr>
              <a:t>Une base de données unique ne peut pas résoudre ce problème. </a:t>
            </a:r>
          </a:p>
          <a:p>
            <a:r>
              <a:rPr lang="fr-FR" sz="1200" b="0" kern="1200" dirty="0">
                <a:solidFill>
                  <a:schemeClr val="tx1"/>
                </a:solidFill>
                <a:effectLst/>
                <a:latin typeface="+mn-lt"/>
                <a:ea typeface="+mn-ea"/>
                <a:cs typeface="+mn-cs"/>
              </a:rPr>
              <a:t>Nous avons rejeté l'approche monolithique pour combiner plusieurs technologies, chacune étant choisie pour sa force spécifique. </a:t>
            </a:r>
          </a:p>
          <a:p>
            <a:r>
              <a:rPr lang="fr-FR" sz="1200" b="0" kern="1200" dirty="0">
                <a:solidFill>
                  <a:schemeClr val="tx1"/>
                </a:solidFill>
                <a:effectLst/>
                <a:latin typeface="+mn-lt"/>
                <a:ea typeface="+mn-ea"/>
                <a:cs typeface="+mn-cs"/>
              </a:rPr>
              <a:t>Nous séparons strictement  le </a:t>
            </a:r>
            <a:r>
              <a:rPr lang="fr-FR" sz="1200" b="0" kern="1200" dirty="0" err="1">
                <a:solidFill>
                  <a:schemeClr val="tx1"/>
                </a:solidFill>
                <a:effectLst/>
                <a:latin typeface="+mn-lt"/>
                <a:ea typeface="+mn-ea"/>
                <a:cs typeface="+mn-cs"/>
              </a:rPr>
              <a:t>feature</a:t>
            </a:r>
            <a:r>
              <a:rPr lang="fr-FR" sz="1200" b="0" kern="1200" dirty="0">
                <a:solidFill>
                  <a:schemeClr val="tx1"/>
                </a:solidFill>
                <a:effectLst/>
                <a:latin typeface="+mn-lt"/>
                <a:ea typeface="+mn-ea"/>
                <a:cs typeface="+mn-cs"/>
              </a:rPr>
              <a:t> store temps réel, l'OLTP, l'OLAP</a:t>
            </a:r>
          </a:p>
          <a:p>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Redis</a:t>
            </a:r>
            <a:r>
              <a:rPr lang="fr-FR" sz="1200" b="0" kern="1200" dirty="0">
                <a:solidFill>
                  <a:schemeClr val="tx1"/>
                </a:solidFill>
                <a:effectLst/>
                <a:latin typeface="+mn-lt"/>
                <a:ea typeface="+mn-ea"/>
                <a:cs typeface="+mn-cs"/>
              </a:rPr>
              <a:t> sert de </a:t>
            </a:r>
            <a:r>
              <a:rPr lang="fr-FR" sz="1200" b="0" kern="1200" dirty="0" err="1">
                <a:solidFill>
                  <a:schemeClr val="tx1"/>
                </a:solidFill>
                <a:effectLst/>
                <a:latin typeface="+mn-lt"/>
                <a:ea typeface="+mn-ea"/>
                <a:cs typeface="+mn-cs"/>
              </a:rPr>
              <a:t>Feature</a:t>
            </a:r>
            <a:r>
              <a:rPr lang="fr-FR" sz="1200" b="0" kern="1200" dirty="0">
                <a:solidFill>
                  <a:schemeClr val="tx1"/>
                </a:solidFill>
                <a:effectLst/>
                <a:latin typeface="+mn-lt"/>
                <a:ea typeface="+mn-ea"/>
                <a:cs typeface="+mn-cs"/>
              </a:rPr>
              <a:t> Store temps réel nécessaire à la décision immédiate. </a:t>
            </a:r>
          </a:p>
          <a:p>
            <a:r>
              <a:rPr lang="fr-FR" sz="1200" b="0" kern="1200" dirty="0">
                <a:solidFill>
                  <a:schemeClr val="tx1"/>
                </a:solidFill>
                <a:effectLst/>
                <a:latin typeface="+mn-lt"/>
                <a:ea typeface="+mn-ea"/>
                <a:cs typeface="+mn-cs"/>
              </a:rPr>
              <a:t>l’opération est indépendante de la taille de l’entrée (complexité constante) et, se termine en moins de 2 milliseconde</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il stocke à chaud en mémoire RAM les variables de transaction à risque</a:t>
            </a:r>
          </a:p>
          <a:p>
            <a:r>
              <a:rPr lang="fr-FR" sz="1200" b="0" kern="1200" dirty="0">
                <a:solidFill>
                  <a:schemeClr val="tx1"/>
                </a:solidFill>
                <a:effectLst/>
                <a:latin typeface="+mn-lt"/>
                <a:ea typeface="+mn-ea"/>
                <a:cs typeface="+mn-cs"/>
              </a:rPr>
              <a:t>Grâce à sa structure clé-valeur, il garantit un accès en lecture en temps constant, en moins d'une milliseconde.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PostgreSQL</a:t>
            </a:r>
            <a:r>
              <a:rPr lang="fr-FR" sz="1200" b="0" kern="1200" dirty="0">
                <a:solidFill>
                  <a:schemeClr val="tx1"/>
                </a:solidFill>
                <a:effectLst/>
                <a:latin typeface="+mn-lt"/>
                <a:ea typeface="+mn-ea"/>
                <a:cs typeface="+mn-cs"/>
              </a:rPr>
              <a:t> sert de grand livre comptable ACID et immuable. Il gère l'historique des transactions en ajout uniquement (append-</a:t>
            </a:r>
            <a:r>
              <a:rPr lang="fr-FR" sz="1200" b="0" kern="1200" dirty="0" err="1">
                <a:solidFill>
                  <a:schemeClr val="tx1"/>
                </a:solidFill>
                <a:effectLst/>
                <a:latin typeface="+mn-lt"/>
                <a:ea typeface="+mn-ea"/>
                <a:cs typeface="+mn-cs"/>
              </a:rPr>
              <a:t>only</a:t>
            </a:r>
            <a:r>
              <a:rPr lang="fr-FR" sz="1200" b="0" kern="1200" dirty="0">
                <a:solidFill>
                  <a:schemeClr val="tx1"/>
                </a:solidFill>
                <a:effectLst/>
                <a:latin typeface="+mn-lt"/>
                <a:ea typeface="+mn-ea"/>
                <a:cs typeface="+mn-cs"/>
              </a:rPr>
              <a:t>), ce qui garantit que les données financières restent auditables.. </a:t>
            </a:r>
          </a:p>
          <a:p>
            <a:r>
              <a:rPr lang="fr-FR" sz="1200" b="0" kern="1200" dirty="0">
                <a:solidFill>
                  <a:schemeClr val="tx1"/>
                </a:solidFill>
                <a:effectLst/>
                <a:latin typeface="+mn-lt"/>
                <a:ea typeface="+mn-ea"/>
                <a:cs typeface="+mn-cs"/>
              </a:rPr>
              <a:t>Pour ne pas ralentir le paiement de l'acheteur, la mise à jour de ces variables se fait en arrière-plan via un</a:t>
            </a:r>
          </a:p>
          <a:p>
            <a:r>
              <a:rPr lang="fr-FR" sz="1200" b="0" kern="1200" dirty="0">
                <a:solidFill>
                  <a:schemeClr val="tx1"/>
                </a:solidFill>
                <a:effectLst/>
                <a:latin typeface="+mn-lt"/>
                <a:ea typeface="+mn-ea"/>
                <a:cs typeface="+mn-cs"/>
              </a:rPr>
              <a:t>pipeline d'écriture asynchrone et chaque jour</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Un registre en écriture seule (Ledger Append-Only ) est un modèle de conception de base de données où l'on</a:t>
            </a:r>
          </a:p>
          <a:p>
            <a:r>
              <a:rPr lang="fr-FR" sz="1200" b="0" kern="1200" dirty="0">
                <a:solidFill>
                  <a:schemeClr val="tx1"/>
                </a:solidFill>
                <a:effectLst/>
                <a:latin typeface="+mn-lt"/>
                <a:ea typeface="+mn-ea"/>
                <a:cs typeface="+mn-cs"/>
              </a:rPr>
              <a:t>n'écrit que de nouvelles données (des  INSERT ), sans jamais modifier ( UPDATE ) ni supprimer ( DELETE ) les</a:t>
            </a:r>
          </a:p>
          <a:p>
            <a:r>
              <a:rPr lang="fr-FR" sz="1200" b="0" kern="1200" dirty="0">
                <a:solidFill>
                  <a:schemeClr val="tx1"/>
                </a:solidFill>
                <a:effectLst/>
                <a:latin typeface="+mn-lt"/>
                <a:ea typeface="+mn-ea"/>
                <a:cs typeface="+mn-cs"/>
              </a:rPr>
              <a:t>enregistrements existants. </a:t>
            </a:r>
          </a:p>
          <a:p>
            <a:r>
              <a:rPr lang="fr-FR" sz="1200" b="0" kern="1200" dirty="0">
                <a:solidFill>
                  <a:schemeClr val="tx1"/>
                </a:solidFill>
                <a:effectLst/>
                <a:latin typeface="+mn-lt"/>
                <a:ea typeface="+mn-ea"/>
                <a:cs typeface="+mn-cs"/>
              </a:rPr>
              <a:t>C'est le fonctionnement historique de la comptabilité physique : si une erreur est commise ou si un remboursement a</a:t>
            </a:r>
          </a:p>
          <a:p>
            <a:r>
              <a:rPr lang="fr-FR" sz="1200" b="0" kern="1200" dirty="0">
                <a:solidFill>
                  <a:schemeClr val="tx1"/>
                </a:solidFill>
                <a:effectLst/>
                <a:latin typeface="+mn-lt"/>
                <a:ea typeface="+mn-ea"/>
                <a:cs typeface="+mn-cs"/>
              </a:rPr>
              <a:t>lieu, un comptable ne gomme pas la ligne précédente ; il inscrit une nouvelle ligne de correction (une écriture de contrepassation).</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Comme PostgreSQL n'a pas besoin de verrouiller une ligne existante pour insérer une nouvelle ligne, les écritures</a:t>
            </a:r>
          </a:p>
          <a:p>
            <a:r>
              <a:rPr lang="fr-FR" sz="1200" b="0" kern="1200" dirty="0">
                <a:solidFill>
                  <a:schemeClr val="tx1"/>
                </a:solidFill>
                <a:effectLst/>
                <a:latin typeface="+mn-lt"/>
                <a:ea typeface="+mn-ea"/>
                <a:cs typeface="+mn-cs"/>
              </a:rPr>
              <a:t>  se font à la vitesse maximale du disque (généralement &lt; 10 ms), sans aucun conflit de concurrence, peu importe le</a:t>
            </a:r>
          </a:p>
          <a:p>
            <a:r>
              <a:rPr lang="fr-FR" sz="1200" b="0" kern="1200" dirty="0">
                <a:solidFill>
                  <a:schemeClr val="tx1"/>
                </a:solidFill>
                <a:effectLst/>
                <a:latin typeface="+mn-lt"/>
                <a:ea typeface="+mn-ea"/>
                <a:cs typeface="+mn-cs"/>
              </a:rPr>
              <a:t>  nombre de transactions simultanées pour un même marchand.</a:t>
            </a:r>
          </a:p>
          <a:p>
            <a:r>
              <a:rPr lang="fr-FR" sz="1200" b="0" kern="1200" dirty="0">
                <a:solidFill>
                  <a:schemeClr val="tx1"/>
                </a:solidFill>
                <a:effectLst/>
                <a:latin typeface="+mn-lt"/>
                <a:ea typeface="+mn-ea"/>
                <a:cs typeface="+mn-cs"/>
              </a:rPr>
              <a:t>  Avec le modèle Append-Only, chaque opération de paiement, remboursement ou litige est insérée comme un événement</a:t>
            </a:r>
          </a:p>
          <a:p>
            <a:r>
              <a:rPr lang="fr-FR" sz="1200" b="0" kern="1200" dirty="0">
                <a:solidFill>
                  <a:schemeClr val="tx1"/>
                </a:solidFill>
                <a:effectLst/>
                <a:latin typeface="+mn-lt"/>
                <a:ea typeface="+mn-ea"/>
                <a:cs typeface="+mn-cs"/>
              </a:rPr>
              <a:t>  unique et immuable :</a:t>
            </a:r>
          </a:p>
          <a:p>
            <a:endParaRPr lang="fr-FR" sz="1200" b="0" kern="1200" dirty="0">
              <a:solidFill>
                <a:schemeClr val="tx1"/>
              </a:solidFill>
              <a:effectLst/>
              <a:latin typeface="+mn-lt"/>
              <a:ea typeface="+mn-ea"/>
              <a:cs typeface="+mn-cs"/>
            </a:endParaRPr>
          </a:p>
          <a:p>
            <a:endParaRPr lang="fr-FR" sz="1200" b="0" kern="1200" dirty="0">
              <a:solidFill>
                <a:schemeClr val="tx1"/>
              </a:solidFill>
              <a:effectLst/>
              <a:latin typeface="+mn-lt"/>
              <a:ea typeface="+mn-ea"/>
              <a:cs typeface="+mn-cs"/>
            </a:endParaRP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Pour garantir des performances de requêtes instantanées et réduire drastiquement les coûts de calcul </a:t>
            </a:r>
          </a:p>
          <a:p>
            <a:r>
              <a:rPr lang="fr-FR" sz="1200" b="0" kern="1200" dirty="0">
                <a:solidFill>
                  <a:schemeClr val="tx1"/>
                </a:solidFill>
                <a:effectLst/>
                <a:latin typeface="+mn-lt"/>
                <a:ea typeface="+mn-ea"/>
                <a:cs typeface="+mn-cs"/>
              </a:rPr>
              <a:t>Les Vues Matérialisées, avec DBT centralisent l'analytique à grande échelle </a:t>
            </a:r>
            <a:r>
              <a:rPr lang="fr-FR" sz="1200" b="0" kern="1200" dirty="0" err="1">
                <a:solidFill>
                  <a:schemeClr val="tx1"/>
                </a:solidFill>
                <a:effectLst/>
                <a:latin typeface="+mn-lt"/>
                <a:ea typeface="+mn-ea"/>
                <a:cs typeface="+mn-cs"/>
              </a:rPr>
              <a:t>pré-calculent</a:t>
            </a:r>
            <a:r>
              <a:rPr lang="fr-FR" sz="1200" b="0" kern="1200" dirty="0">
                <a:solidFill>
                  <a:schemeClr val="tx1"/>
                </a:solidFill>
                <a:effectLst/>
                <a:latin typeface="+mn-lt"/>
                <a:ea typeface="+mn-ea"/>
                <a:cs typeface="+mn-cs"/>
              </a:rPr>
              <a:t> et stockent à l'avance les indicateurs financiers récurrents pour que</a:t>
            </a:r>
          </a:p>
          <a:p>
            <a:r>
              <a:rPr lang="fr-FR" sz="1200" b="0" kern="1200" dirty="0">
                <a:solidFill>
                  <a:schemeClr val="tx1"/>
                </a:solidFill>
                <a:effectLst/>
                <a:latin typeface="+mn-lt"/>
                <a:ea typeface="+mn-ea"/>
                <a:cs typeface="+mn-cs"/>
              </a:rPr>
              <a:t>les tableaux de bord s'affichent instantanément. »</a:t>
            </a:r>
          </a:p>
          <a:p>
            <a:pPr>
              <a:defRPr sz="2600" b="1">
                <a:solidFill>
                  <a:srgbClr val="0F172A"/>
                </a:solidFill>
                <a:latin typeface="Segoe UI"/>
              </a:defRPr>
            </a:pPr>
            <a:br>
              <a:rPr lang="fr-FR" sz="1200" b="0" kern="1200" dirty="0">
                <a:solidFill>
                  <a:schemeClr val="tx1"/>
                </a:solidFill>
                <a:effectLst/>
                <a:latin typeface="+mn-lt"/>
                <a:ea typeface="+mn-ea"/>
                <a:cs typeface="+mn-cs"/>
              </a:rPr>
            </a:br>
            <a:r>
              <a:rPr lang="fr-FR" sz="1200" b="0" kern="1200" dirty="0">
                <a:solidFill>
                  <a:schemeClr val="tx1"/>
                </a:solidFill>
                <a:effectLst/>
                <a:latin typeface="+mn-lt"/>
                <a:ea typeface="+mn-ea"/>
                <a:cs typeface="+mn-cs"/>
              </a:rPr>
              <a:t>On </a:t>
            </a:r>
            <a:r>
              <a:rPr lang="fr-FR" sz="1200" b="0" kern="1200" dirty="0" err="1">
                <a:solidFill>
                  <a:schemeClr val="tx1"/>
                </a:solidFill>
                <a:effectLst/>
                <a:latin typeface="+mn-lt"/>
                <a:ea typeface="+mn-ea"/>
                <a:cs typeface="+mn-cs"/>
              </a:rPr>
              <a:t>utlise</a:t>
            </a:r>
            <a:r>
              <a:rPr lang="fr-FR" sz="1200" b="0" kern="1200" dirty="0">
                <a:solidFill>
                  <a:schemeClr val="tx1"/>
                </a:solidFill>
                <a:effectLst/>
                <a:latin typeface="+mn-lt"/>
                <a:ea typeface="+mn-ea"/>
                <a:cs typeface="+mn-cs"/>
              </a:rPr>
              <a:t> donc </a:t>
            </a:r>
            <a:r>
              <a:rPr lang="fr-FR" sz="1200" dirty="0" err="1"/>
              <a:t>dbt</a:t>
            </a:r>
            <a:r>
              <a:rPr lang="fr-FR" sz="1200" dirty="0"/>
              <a:t> (Data </a:t>
            </a:r>
            <a:r>
              <a:rPr lang="fr-FR" sz="1200" dirty="0" err="1"/>
              <a:t>Build</a:t>
            </a:r>
            <a:r>
              <a:rPr lang="fr-FR" sz="1200" dirty="0"/>
              <a:t> Tool) : Pour les transformations SQL structurées.</a:t>
            </a:r>
          </a:p>
          <a:p>
            <a:pPr>
              <a:spcAft>
                <a:spcPts val="1000"/>
              </a:spcAft>
              <a:defRPr sz="2600">
                <a:solidFill>
                  <a:srgbClr val="0F172A"/>
                </a:solidFill>
                <a:latin typeface="Segoe UI"/>
              </a:defRPr>
            </a:pPr>
            <a:r>
              <a:rPr lang="fr-FR" sz="1200" dirty="0"/>
              <a:t>Approche ELT : calculs analytiques effectués directement dans PostgreSQL.</a:t>
            </a:r>
          </a:p>
          <a:p>
            <a:pPr>
              <a:spcAft>
                <a:spcPts val="1000"/>
              </a:spcAft>
              <a:defRPr sz="2600">
                <a:solidFill>
                  <a:srgbClr val="0F172A"/>
                </a:solidFill>
                <a:latin typeface="Segoe UI"/>
              </a:defRPr>
            </a:pPr>
            <a:r>
              <a:rPr lang="fr-FR" sz="1200" dirty="0"/>
              <a:t>Matérialisation incrémentale sous forme de tables d'agrégats d'affaires (Vues Gold).</a:t>
            </a:r>
          </a:p>
          <a:p>
            <a:pPr>
              <a:spcAft>
                <a:spcPts val="1000"/>
              </a:spcAft>
              <a:defRPr sz="2600">
                <a:solidFill>
                  <a:srgbClr val="0F172A"/>
                </a:solidFill>
                <a:latin typeface="Segoe UI"/>
              </a:defRPr>
            </a:pPr>
            <a:endParaRPr lang="fr-FR" sz="1200" dirty="0"/>
          </a:p>
          <a:p>
            <a:pPr>
              <a:defRPr sz="2600" b="1">
                <a:solidFill>
                  <a:srgbClr val="0F172A"/>
                </a:solidFill>
                <a:latin typeface="Segoe UI"/>
              </a:defRPr>
            </a:pPr>
            <a:r>
              <a:rPr lang="fr-FR" sz="1200" dirty="0"/>
              <a:t>KPI: Taux de fraude par marchand, montants bloqués.</a:t>
            </a:r>
          </a:p>
          <a:p>
            <a:pPr>
              <a:spcAft>
                <a:spcPts val="1000"/>
              </a:spcAft>
              <a:defRPr sz="2600">
                <a:solidFill>
                  <a:srgbClr val="0F172A"/>
                </a:solidFill>
                <a:latin typeface="Segoe UI"/>
              </a:defRPr>
            </a:pPr>
            <a:r>
              <a:rPr lang="fr-FR" sz="1200" dirty="0"/>
              <a:t>Indicateurs Techniques : Respect du SLA de latence (Pourcentage de requêtes sous les 100 ms).</a:t>
            </a:r>
          </a:p>
          <a:p>
            <a:pPr>
              <a:spcAft>
                <a:spcPts val="1000"/>
              </a:spcAft>
              <a:defRPr sz="2600">
                <a:solidFill>
                  <a:srgbClr val="0F172A"/>
                </a:solidFill>
                <a:latin typeface="Segoe UI"/>
              </a:defRPr>
            </a:pPr>
            <a:r>
              <a:rPr lang="fr-FR" sz="1200" dirty="0"/>
              <a:t>Indicateurs d'Explicabilité : Top 5 des variables SHAP les plus influentes au global.</a:t>
            </a:r>
          </a:p>
          <a:p>
            <a:pPr>
              <a:spcAft>
                <a:spcPts val="1000"/>
              </a:spcAft>
              <a:defRPr sz="2600">
                <a:solidFill>
                  <a:srgbClr val="0F172A"/>
                </a:solidFill>
                <a:latin typeface="Segoe UI"/>
              </a:defRPr>
            </a:pPr>
            <a:endParaRPr lang="fr-FR" sz="1200" dirty="0"/>
          </a:p>
          <a:p>
            <a:endParaRPr lang="fr-FR" sz="1200" b="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23A90392-2055-BE8C-36E0-53B56692A5F9}"/>
              </a:ext>
            </a:extLst>
          </p:cNvPr>
          <p:cNvSpPr>
            <a:spLocks noGrp="1"/>
          </p:cNvSpPr>
          <p:nvPr>
            <p:ph type="sldNum" sz="quarter" idx="5"/>
          </p:nvPr>
        </p:nvSpPr>
        <p:spPr/>
      </p:sp>
    </p:spTree>
    <p:extLst>
      <p:ext uri="{BB962C8B-B14F-4D97-AF65-F5344CB8AC3E}">
        <p14:creationId xmlns:p14="http://schemas.microsoft.com/office/powerpoint/2010/main" val="1905685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AEA5E-DAA8-734E-D9E9-B68616DE1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2C9510-13D0-49BE-20C2-266F120E692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50B8CA0-04F9-E8A3-7A85-F7F37B062664}"/>
              </a:ext>
            </a:extLst>
          </p:cNvPr>
          <p:cNvSpPr>
            <a:spLocks noGrp="1"/>
          </p:cNvSpPr>
          <p:nvPr>
            <p:ph type="body" sz="quarter" idx="3"/>
          </p:nvPr>
        </p:nvSpPr>
        <p:spPr/>
        <p:txBody>
          <a:bodyPr/>
          <a:lstStyle/>
          <a:p>
            <a:r>
              <a:rPr lang="fr-FR" dirty="0"/>
              <a:t>Couche d'ingestion : </a:t>
            </a:r>
            <a:r>
              <a:rPr lang="fr-FR" dirty="0" err="1"/>
              <a:t>FastAPI</a:t>
            </a:r>
            <a:r>
              <a:rPr lang="fr-FR" dirty="0"/>
              <a:t> &amp; Redis Fast-Path.</a:t>
            </a:r>
          </a:p>
          <a:p>
            <a:r>
              <a:rPr lang="fr-FR" dirty="0"/>
              <a:t>Couche de traitement distribué : Cluster Ray (Ray Serve &amp; Ray Train).</a:t>
            </a:r>
          </a:p>
          <a:p>
            <a:r>
              <a:rPr lang="fr-FR" dirty="0"/>
              <a:t>Couche d'orchestration : Apache </a:t>
            </a:r>
            <a:r>
              <a:rPr lang="fr-FR" dirty="0" err="1"/>
              <a:t>Airflow</a:t>
            </a:r>
            <a:r>
              <a:rPr lang="fr-FR" dirty="0"/>
              <a:t>.</a:t>
            </a:r>
          </a:p>
          <a:p>
            <a:r>
              <a:rPr lang="fr-FR" dirty="0"/>
              <a:t>Couche analytique : </a:t>
            </a:r>
            <a:r>
              <a:rPr lang="fr-FR" dirty="0" err="1"/>
              <a:t>Postgres</a:t>
            </a:r>
            <a:r>
              <a:rPr lang="fr-FR" dirty="0"/>
              <a:t>, </a:t>
            </a:r>
            <a:r>
              <a:rPr lang="fr-FR" dirty="0" err="1"/>
              <a:t>dbt</a:t>
            </a:r>
            <a:r>
              <a:rPr lang="fr-FR" dirty="0"/>
              <a:t> &amp; </a:t>
            </a:r>
            <a:r>
              <a:rPr lang="fr-FR" dirty="0" err="1"/>
              <a:t>Streamlit</a:t>
            </a:r>
            <a:r>
              <a:rPr lang="fr-FR" dirty="0"/>
              <a:t>.</a:t>
            </a:r>
          </a:p>
          <a:p>
            <a:endParaRPr lang="fr-FR" dirty="0"/>
          </a:p>
          <a:p>
            <a:r>
              <a:rPr lang="fr-FR" sz="1200" b="0" kern="1200" dirty="0">
                <a:solidFill>
                  <a:schemeClr val="tx1"/>
                </a:solidFill>
                <a:effectLst/>
                <a:latin typeface="+mn-lt"/>
                <a:ea typeface="+mn-ea"/>
                <a:cs typeface="+mn-cs"/>
              </a:rPr>
              <a:t>Comme illustré sur nos schémas d'architecture : </a:t>
            </a:r>
          </a:p>
          <a:p>
            <a:r>
              <a:rPr lang="fr-FR" sz="1200" b="0" kern="1200" dirty="0">
                <a:solidFill>
                  <a:schemeClr val="tx1"/>
                </a:solidFill>
                <a:effectLst/>
                <a:latin typeface="+mn-lt"/>
                <a:ea typeface="+mn-ea"/>
                <a:cs typeface="+mn-cs"/>
              </a:rPr>
              <a:t>&gt; Notre premier DAG </a:t>
            </a:r>
            <a:r>
              <a:rPr lang="fr-FR" sz="1200" b="0" kern="1200" dirty="0" err="1">
                <a:solidFill>
                  <a:schemeClr val="tx1"/>
                </a:solidFill>
                <a:effectLst/>
                <a:latin typeface="+mn-lt"/>
                <a:ea typeface="+mn-ea"/>
                <a:cs typeface="+mn-cs"/>
              </a:rPr>
              <a:t>Airflow</a:t>
            </a:r>
            <a:r>
              <a:rPr lang="fr-FR" sz="1200" b="0" kern="1200" dirty="0">
                <a:solidFill>
                  <a:schemeClr val="tx1"/>
                </a:solidFill>
                <a:effectLst/>
                <a:latin typeface="+mn-lt"/>
                <a:ea typeface="+mn-ea"/>
                <a:cs typeface="+mn-cs"/>
              </a:rPr>
              <a:t>, le '</a:t>
            </a:r>
            <a:r>
              <a:rPr lang="fr-FR" sz="1200" b="0" kern="1200" dirty="0" err="1">
                <a:solidFill>
                  <a:schemeClr val="tx1"/>
                </a:solidFill>
                <a:effectLst/>
                <a:latin typeface="+mn-lt"/>
                <a:ea typeface="+mn-ea"/>
                <a:cs typeface="+mn-cs"/>
              </a:rPr>
              <a:t>batch_prediction_pipeline</a:t>
            </a:r>
            <a:r>
              <a:rPr lang="fr-FR" sz="1200" b="0" kern="1200" dirty="0">
                <a:solidFill>
                  <a:schemeClr val="tx1"/>
                </a:solidFill>
                <a:effectLst/>
                <a:latin typeface="+mn-lt"/>
                <a:ea typeface="+mn-ea"/>
                <a:cs typeface="+mn-cs"/>
              </a:rPr>
              <a:t>', tourne toutes les minutes de manière séquentielle pour consommer les fichiers de transactions arrivant dans notre dossier d'attente local. Il interroge notre service de prédiction et nettoie proprement le dossier après chaque exécution.</a:t>
            </a:r>
          </a:p>
          <a:p>
            <a:r>
              <a:rPr lang="fr-FR" sz="1200" b="0" kern="1200" dirty="0">
                <a:solidFill>
                  <a:schemeClr val="tx1"/>
                </a:solidFill>
                <a:effectLst/>
                <a:latin typeface="+mn-lt"/>
                <a:ea typeface="+mn-ea"/>
                <a:cs typeface="+mn-cs"/>
              </a:rPr>
              <a:t>&gt; Le second DAG, '</a:t>
            </a:r>
            <a:r>
              <a:rPr lang="fr-FR" sz="1200" b="0" kern="1200" dirty="0" err="1">
                <a:solidFill>
                  <a:schemeClr val="tx1"/>
                </a:solidFill>
                <a:effectLst/>
                <a:latin typeface="+mn-lt"/>
                <a:ea typeface="+mn-ea"/>
                <a:cs typeface="+mn-cs"/>
              </a:rPr>
              <a:t>drift_and_retrain_loop</a:t>
            </a:r>
            <a:r>
              <a:rPr lang="fr-FR" sz="1200" b="0" kern="1200" dirty="0">
                <a:solidFill>
                  <a:schemeClr val="tx1"/>
                </a:solidFill>
                <a:effectLst/>
                <a:latin typeface="+mn-lt"/>
                <a:ea typeface="+mn-ea"/>
                <a:cs typeface="+mn-cs"/>
              </a:rPr>
              <a:t>', s'exécute quotidiennement pour auditer la dérive de nos modèles. Si une déviation est détectée par </a:t>
            </a:r>
            <a:r>
              <a:rPr lang="fr-FR" sz="1200" b="0" kern="1200" dirty="0" err="1">
                <a:solidFill>
                  <a:schemeClr val="tx1"/>
                </a:solidFill>
                <a:effectLst/>
                <a:latin typeface="+mn-lt"/>
                <a:ea typeface="+mn-ea"/>
                <a:cs typeface="+mn-cs"/>
              </a:rPr>
              <a:t>Evidently</a:t>
            </a:r>
            <a:r>
              <a:rPr lang="fr-FR" sz="1200" b="0" kern="1200" dirty="0">
                <a:solidFill>
                  <a:schemeClr val="tx1"/>
                </a:solidFill>
                <a:effectLst/>
                <a:latin typeface="+mn-lt"/>
                <a:ea typeface="+mn-ea"/>
                <a:cs typeface="+mn-cs"/>
              </a:rPr>
              <a:t>, il déclenche l'optimisation des hyperparamètres et publie un nouveau modèle champion dans </a:t>
            </a:r>
            <a:r>
              <a:rPr lang="fr-FR" sz="1200" b="0" kern="1200" dirty="0" err="1">
                <a:solidFill>
                  <a:schemeClr val="tx1"/>
                </a:solidFill>
                <a:effectLst/>
                <a:latin typeface="+mn-lt"/>
                <a:ea typeface="+mn-ea"/>
                <a:cs typeface="+mn-cs"/>
              </a:rPr>
              <a:t>MLflow</a:t>
            </a:r>
            <a:r>
              <a:rPr lang="fr-FR" sz="1200" b="0" kern="1200" dirty="0">
                <a:solidFill>
                  <a:schemeClr val="tx1"/>
                </a:solidFill>
                <a:effectLst/>
                <a:latin typeface="+mn-lt"/>
                <a:ea typeface="+mn-ea"/>
                <a:cs typeface="+mn-cs"/>
              </a:rPr>
              <a:t>.</a:t>
            </a:r>
          </a:p>
          <a:p>
            <a:endParaRPr lang="fr-FR" dirty="0"/>
          </a:p>
          <a:p>
            <a:endParaRPr lang="fr-FR" dirty="0"/>
          </a:p>
          <a:p>
            <a:endParaRPr lang="fr-FR" dirty="0"/>
          </a:p>
          <a:p>
            <a:r>
              <a:rPr lang="fr-FR" dirty="0"/>
              <a:t>Réentrainement distribué et optimisation : </a:t>
            </a:r>
          </a:p>
          <a:p>
            <a:pPr>
              <a:defRPr sz="2600" b="1">
                <a:solidFill>
                  <a:srgbClr val="0F172A"/>
                </a:solidFill>
                <a:latin typeface="Segoe UI"/>
              </a:defRPr>
            </a:pPr>
            <a:r>
              <a:rPr lang="fr-FR" dirty="0"/>
              <a:t>Exécuté sur le cluster Ray (Ray Train pour le calcul réparti).</a:t>
            </a:r>
          </a:p>
          <a:p>
            <a:pPr>
              <a:spcAft>
                <a:spcPts val="1000"/>
              </a:spcAft>
              <a:defRPr sz="2600">
                <a:solidFill>
                  <a:srgbClr val="0F172A"/>
                </a:solidFill>
                <a:latin typeface="Segoe UI"/>
              </a:defRPr>
            </a:pPr>
            <a:r>
              <a:rPr lang="fr-FR" dirty="0" err="1"/>
              <a:t>Optuna</a:t>
            </a:r>
            <a:r>
              <a:rPr lang="fr-FR" dirty="0"/>
              <a:t> : Recherche d'hyperparamètres (HPO) en testant plusieurs configurations d'arbre (profondeur, </a:t>
            </a:r>
            <a:r>
              <a:rPr lang="fr-FR" dirty="0" err="1"/>
              <a:t>learning</a:t>
            </a:r>
            <a:r>
              <a:rPr lang="fr-FR" dirty="0"/>
              <a:t> rate).</a:t>
            </a:r>
          </a:p>
          <a:p>
            <a:pPr>
              <a:spcAft>
                <a:spcPts val="1000"/>
              </a:spcAft>
              <a:defRPr sz="2600">
                <a:solidFill>
                  <a:srgbClr val="0F172A"/>
                </a:solidFill>
                <a:latin typeface="Segoe UI"/>
              </a:defRPr>
            </a:pPr>
            <a:r>
              <a:rPr lang="fr-FR" dirty="0"/>
              <a:t>Métrique cible maximisée : Le score $F2$ de la classe Fraude sur les données réelles de </a:t>
            </a:r>
            <a:r>
              <a:rPr lang="fr-FR" dirty="0" err="1"/>
              <a:t>Postgres</a:t>
            </a:r>
            <a:r>
              <a:rPr lang="fr-FR" dirty="0"/>
              <a:t>.</a:t>
            </a:r>
          </a:p>
          <a:p>
            <a:endParaRPr lang="fr-FR" dirty="0"/>
          </a:p>
          <a:p>
            <a:pPr>
              <a:defRPr sz="2600" b="1">
                <a:solidFill>
                  <a:srgbClr val="0F172A"/>
                </a:solidFill>
                <a:latin typeface="Segoe UI"/>
              </a:defRPr>
            </a:pPr>
            <a:r>
              <a:rPr lang="fr-FR" dirty="0"/>
              <a:t>Enregistrement automatique du nouveau modèle entraîné dans </a:t>
            </a:r>
            <a:r>
              <a:rPr lang="fr-FR" dirty="0" err="1"/>
              <a:t>MLflow</a:t>
            </a:r>
            <a:r>
              <a:rPr lang="fr-FR" dirty="0"/>
              <a:t>.</a:t>
            </a:r>
          </a:p>
          <a:p>
            <a:pPr>
              <a:spcAft>
                <a:spcPts val="1000"/>
              </a:spcAft>
              <a:defRPr sz="2600">
                <a:solidFill>
                  <a:srgbClr val="0F172A"/>
                </a:solidFill>
                <a:latin typeface="Segoe UI"/>
              </a:defRPr>
            </a:pPr>
            <a:r>
              <a:rPr lang="fr-FR" dirty="0"/>
              <a:t>Attribution automatique de l'alias `"champion"` si les métriques de validation dépassent le champion actuel.</a:t>
            </a:r>
          </a:p>
          <a:p>
            <a:pPr>
              <a:spcAft>
                <a:spcPts val="1000"/>
              </a:spcAft>
              <a:defRPr sz="2600">
                <a:solidFill>
                  <a:srgbClr val="0F172A"/>
                </a:solidFill>
                <a:latin typeface="Segoe UI"/>
              </a:defRPr>
            </a:pPr>
            <a:r>
              <a:rPr lang="fr-FR" dirty="0"/>
              <a:t>Hot </a:t>
            </a:r>
            <a:r>
              <a:rPr lang="fr-FR" dirty="0" err="1"/>
              <a:t>reload</a:t>
            </a:r>
            <a:r>
              <a:rPr lang="fr-FR" dirty="0"/>
              <a:t> : L'API </a:t>
            </a:r>
            <a:r>
              <a:rPr lang="fr-FR" dirty="0" err="1"/>
              <a:t>FastAPI</a:t>
            </a:r>
            <a:r>
              <a:rPr lang="fr-FR" dirty="0"/>
              <a:t> détecte le changement dans </a:t>
            </a:r>
            <a:r>
              <a:rPr lang="fr-FR" dirty="0" err="1"/>
              <a:t>MLflow</a:t>
            </a:r>
            <a:r>
              <a:rPr lang="fr-FR" dirty="0"/>
              <a:t> et recharge le nouveau modèle en mémoire sans aucune coupure de service.</a:t>
            </a:r>
          </a:p>
          <a:p>
            <a:endParaRPr lang="fr-FR" dirty="0"/>
          </a:p>
          <a:p>
            <a:pPr>
              <a:defRPr sz="2600" b="1">
                <a:solidFill>
                  <a:srgbClr val="0F172A"/>
                </a:solidFill>
                <a:latin typeface="Segoe UI"/>
              </a:defRPr>
            </a:pPr>
            <a:r>
              <a:rPr lang="fr-FR" dirty="0" err="1"/>
              <a:t>Streamlit</a:t>
            </a:r>
            <a:r>
              <a:rPr lang="fr-FR" dirty="0"/>
              <a:t> : Interface utilisateur unifiée.</a:t>
            </a:r>
          </a:p>
          <a:p>
            <a:pPr>
              <a:spcAft>
                <a:spcPts val="1000"/>
              </a:spcAft>
              <a:defRPr sz="2600">
                <a:solidFill>
                  <a:srgbClr val="0F172A"/>
                </a:solidFill>
                <a:latin typeface="Segoe UI"/>
              </a:defRPr>
            </a:pPr>
            <a:r>
              <a:rPr lang="fr-FR" dirty="0"/>
              <a:t>Vue </a:t>
            </a:r>
            <a:r>
              <a:rPr lang="fr-FR" dirty="0" err="1"/>
              <a:t>MLOps</a:t>
            </a:r>
            <a:r>
              <a:rPr lang="fr-FR" dirty="0"/>
              <a:t> : Comparatif des modèles du registre, surbrillance du champion actif, score $F2$, matrices de confusion détaillées.</a:t>
            </a:r>
          </a:p>
          <a:p>
            <a:pPr>
              <a:spcAft>
                <a:spcPts val="1000"/>
              </a:spcAft>
              <a:defRPr sz="2600">
                <a:solidFill>
                  <a:srgbClr val="0F172A"/>
                </a:solidFill>
                <a:latin typeface="Segoe UI"/>
              </a:defRPr>
            </a:pPr>
            <a:r>
              <a:rPr lang="fr-FR" dirty="0"/>
              <a:t>Vue Marchand (Live) : Alertes instantanées avec explications SHAP et graphiques d'affaires à jour.</a:t>
            </a:r>
          </a:p>
          <a:p>
            <a:endParaRPr dirty="0"/>
          </a:p>
        </p:txBody>
      </p:sp>
      <p:sp>
        <p:nvSpPr>
          <p:cNvPr id="4" name="Slide Number Placeholder 3">
            <a:extLst>
              <a:ext uri="{FF2B5EF4-FFF2-40B4-BE49-F238E27FC236}">
                <a16:creationId xmlns:a16="http://schemas.microsoft.com/office/drawing/2014/main" id="{06EBDA6F-D112-2213-70C9-C50BD26E9960}"/>
              </a:ext>
            </a:extLst>
          </p:cNvPr>
          <p:cNvSpPr>
            <a:spLocks noGrp="1"/>
          </p:cNvSpPr>
          <p:nvPr>
            <p:ph type="sldNum" sz="quarter" idx="5"/>
          </p:nvPr>
        </p:nvSpPr>
        <p:spPr/>
      </p:sp>
    </p:spTree>
    <p:extLst>
      <p:ext uri="{BB962C8B-B14F-4D97-AF65-F5344CB8AC3E}">
        <p14:creationId xmlns:p14="http://schemas.microsoft.com/office/powerpoint/2010/main" val="2637073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5279A-22AD-4B4B-5EB8-AD9031082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8986B-85B4-3389-6495-8D7D2FF679C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3F70C16-C7C9-7D07-1E0C-4888D6F016BE}"/>
              </a:ext>
            </a:extLst>
          </p:cNvPr>
          <p:cNvSpPr>
            <a:spLocks noGrp="1"/>
          </p:cNvSpPr>
          <p:nvPr>
            <p:ph type="body" sz="quarter" idx="3"/>
          </p:nvPr>
        </p:nvSpPr>
        <p:spPr/>
        <p:txBody>
          <a:bodyPr/>
          <a:lstStyle/>
          <a:p>
            <a:pPr>
              <a:defRPr sz="2600" b="1">
                <a:solidFill>
                  <a:srgbClr val="0F172A"/>
                </a:solidFill>
                <a:latin typeface="Segoe UI"/>
              </a:defRPr>
            </a:pPr>
            <a:r>
              <a:rPr lang="fr-FR" dirty="0"/>
              <a:t>Redis Cache en mémoire : Temps d'accès &lt; 2 ms.</a:t>
            </a:r>
          </a:p>
          <a:p>
            <a:pPr>
              <a:spcAft>
                <a:spcPts val="1000"/>
              </a:spcAft>
              <a:defRPr sz="2600">
                <a:solidFill>
                  <a:srgbClr val="0F172A"/>
                </a:solidFill>
                <a:latin typeface="Segoe UI"/>
              </a:defRPr>
            </a:pPr>
            <a:r>
              <a:rPr lang="fr-FR" dirty="0"/>
              <a:t>Stockage des règles de suspicion globales (ex : montants exorbitants, heures de nuit, catégories interdites).</a:t>
            </a:r>
          </a:p>
          <a:p>
            <a:pPr>
              <a:spcAft>
                <a:spcPts val="1000"/>
              </a:spcAft>
              <a:defRPr sz="2600">
                <a:solidFill>
                  <a:srgbClr val="0F172A"/>
                </a:solidFill>
                <a:latin typeface="Segoe UI"/>
              </a:defRPr>
            </a:pPr>
            <a:r>
              <a:rPr lang="fr-FR" dirty="0"/>
              <a:t>Objectif : Bloquer ou signaler instantanément les transactions à très haut risque sans solliciter le modèle ML (économie de CPU/GPU).</a:t>
            </a:r>
          </a:p>
          <a:p>
            <a:pPr>
              <a:spcAft>
                <a:spcPts val="800"/>
              </a:spcAft>
              <a:defRPr sz="3800" b="1">
                <a:solidFill>
                  <a:srgbClr val="0F172A"/>
                </a:solidFill>
                <a:latin typeface="Segoe UI"/>
              </a:defRPr>
            </a:pPr>
            <a:endParaRPr lang="fr-FR" dirty="0"/>
          </a:p>
          <a:p>
            <a:pPr>
              <a:spcAft>
                <a:spcPts val="800"/>
              </a:spcAft>
              <a:defRPr sz="3800" b="1">
                <a:solidFill>
                  <a:srgbClr val="0F172A"/>
                </a:solidFill>
                <a:latin typeface="Segoe UI"/>
              </a:defRPr>
            </a:pPr>
            <a:r>
              <a:rPr lang="fr-FR" dirty="0"/>
              <a:t>En termes de scalabilité horizontale</a:t>
            </a:r>
          </a:p>
          <a:p>
            <a:pPr>
              <a:spcAft>
                <a:spcPts val="800"/>
              </a:spcAft>
              <a:defRPr sz="3800" b="1">
                <a:solidFill>
                  <a:srgbClr val="0F172A"/>
                </a:solidFill>
                <a:latin typeface="Segoe UI"/>
              </a:defRPr>
            </a:pPr>
            <a:r>
              <a:rPr lang="fr-FR" b="0" dirty="0"/>
              <a:t>Inférence parallélisée sur le cluster Ray.</a:t>
            </a:r>
          </a:p>
          <a:p>
            <a:pPr>
              <a:spcAft>
                <a:spcPts val="800"/>
              </a:spcAft>
              <a:defRPr sz="3800" b="1">
                <a:solidFill>
                  <a:srgbClr val="0F172A"/>
                </a:solidFill>
                <a:latin typeface="Segoe UI"/>
              </a:defRPr>
            </a:pPr>
            <a:r>
              <a:rPr lang="fr-FR" b="0" dirty="0"/>
              <a:t>Permet de traiter des millions de lignes par seconde en distribuant les calculs sur plusieurs nœuds CPU ou GPU.</a:t>
            </a:r>
          </a:p>
          <a:p>
            <a:endParaRPr lang="fr-FR" dirty="0"/>
          </a:p>
          <a:p>
            <a:pPr>
              <a:defRPr sz="2600" b="1">
                <a:solidFill>
                  <a:srgbClr val="0F172A"/>
                </a:solidFill>
                <a:latin typeface="Segoe UI"/>
              </a:defRPr>
            </a:pPr>
            <a:r>
              <a:rPr lang="fr-FR" dirty="0"/>
              <a:t>Calcul du temps d'exécution exact (prétraitement + inférence + SHAP).</a:t>
            </a:r>
          </a:p>
          <a:p>
            <a:pPr>
              <a:spcAft>
                <a:spcPts val="1000"/>
              </a:spcAft>
              <a:defRPr sz="2600">
                <a:solidFill>
                  <a:srgbClr val="0F172A"/>
                </a:solidFill>
                <a:latin typeface="Segoe UI"/>
              </a:defRPr>
            </a:pPr>
            <a:r>
              <a:rPr lang="fr-FR" dirty="0"/>
              <a:t>Enregistré dans la colonne `</a:t>
            </a:r>
            <a:r>
              <a:rPr lang="fr-FR" dirty="0" err="1"/>
              <a:t>predictionlatencyms</a:t>
            </a:r>
            <a:r>
              <a:rPr lang="fr-FR" dirty="0"/>
              <a:t>` pour chaque transaction.</a:t>
            </a:r>
          </a:p>
          <a:p>
            <a:pPr>
              <a:spcAft>
                <a:spcPts val="1000"/>
              </a:spcAft>
              <a:defRPr sz="2600">
                <a:solidFill>
                  <a:srgbClr val="0F172A"/>
                </a:solidFill>
                <a:latin typeface="Segoe UI"/>
              </a:defRPr>
            </a:pPr>
            <a:r>
              <a:rPr lang="fr-FR" dirty="0"/>
              <a:t>Moyenne constatée en local : ~8 à 15 ms, largement conforme au SLA (&lt; 100 ms).</a:t>
            </a:r>
          </a:p>
          <a:p>
            <a:endParaRPr dirty="0"/>
          </a:p>
        </p:txBody>
      </p:sp>
      <p:sp>
        <p:nvSpPr>
          <p:cNvPr id="4" name="Slide Number Placeholder 3">
            <a:extLst>
              <a:ext uri="{FF2B5EF4-FFF2-40B4-BE49-F238E27FC236}">
                <a16:creationId xmlns:a16="http://schemas.microsoft.com/office/drawing/2014/main" id="{3C26E3FA-7B7A-231C-1911-5C233893C25C}"/>
              </a:ext>
            </a:extLst>
          </p:cNvPr>
          <p:cNvSpPr>
            <a:spLocks noGrp="1"/>
          </p:cNvSpPr>
          <p:nvPr>
            <p:ph type="sldNum" sz="quarter" idx="5"/>
          </p:nvPr>
        </p:nvSpPr>
        <p:spPr/>
      </p:sp>
    </p:spTree>
    <p:extLst>
      <p:ext uri="{BB962C8B-B14F-4D97-AF65-F5344CB8AC3E}">
        <p14:creationId xmlns:p14="http://schemas.microsoft.com/office/powerpoint/2010/main" val="3949380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DEC39-C644-BE78-B0A3-25E9E07A5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77372-5BDB-843C-D5DC-BBE175D7243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D788E83-82BC-A984-64AC-481A910F9710}"/>
              </a:ext>
            </a:extLst>
          </p:cNvPr>
          <p:cNvSpPr>
            <a:spLocks noGrp="1"/>
          </p:cNvSpPr>
          <p:nvPr>
            <p:ph type="body" sz="quarter" idx="3"/>
          </p:nvPr>
        </p:nvSpPr>
        <p:spPr/>
        <p:txBody>
          <a:bodyPr/>
          <a:lstStyle/>
          <a:p>
            <a:pPr marL="0" marR="0" lvl="0" indent="0" algn="l" defTabSz="914400" rtl="0" eaLnBrk="1" fontAlgn="auto" latinLnBrk="0" hangingPunct="1">
              <a:lnSpc>
                <a:spcPct val="115000"/>
              </a:lnSpc>
              <a:spcBef>
                <a:spcPts val="0"/>
              </a:spcBef>
              <a:spcAft>
                <a:spcPts val="1000"/>
              </a:spcAft>
              <a:buClrTx/>
              <a:buSzTx/>
              <a:buFontTx/>
              <a:buNone/>
              <a:tabLst/>
              <a:defRPr sz="1500" b="1">
                <a:solidFill>
                  <a:srgbClr val="635BFF"/>
                </a:solidFill>
                <a:latin typeface="Segoe UI"/>
              </a:defRPr>
            </a:pPr>
            <a:r>
              <a:rPr lang="fr-FR" dirty="0"/>
              <a:t>File d'Attente de Simulation &amp; Ingestion </a:t>
            </a:r>
            <a:r>
              <a:rPr lang="fr-FR" dirty="0" err="1"/>
              <a:t>Postgres</a:t>
            </a:r>
            <a:endParaRPr lang="fr-FR" dirty="0"/>
          </a:p>
          <a:p>
            <a:pPr>
              <a:defRPr sz="950" b="1">
                <a:solidFill>
                  <a:srgbClr val="635BFF"/>
                </a:solidFill>
                <a:latin typeface="Segoe UI"/>
              </a:defRPr>
            </a:pPr>
            <a:endParaRPr lang="fr-FR" dirty="0"/>
          </a:p>
          <a:p>
            <a:pPr>
              <a:defRPr sz="950" b="1">
                <a:solidFill>
                  <a:srgbClr val="635BFF"/>
                </a:solidFill>
                <a:latin typeface="Segoe UI"/>
              </a:defRPr>
            </a:pPr>
            <a:r>
              <a:rPr lang="fr-FR" dirty="0"/>
              <a:t>Découpage des flux en fichiers de simulation.</a:t>
            </a:r>
          </a:p>
          <a:p>
            <a:pPr>
              <a:spcAft>
                <a:spcPts val="1000"/>
              </a:spcAft>
              <a:defRPr sz="950">
                <a:solidFill>
                  <a:srgbClr val="635BFF"/>
                </a:solidFill>
                <a:latin typeface="Segoe UI"/>
              </a:defRPr>
            </a:pPr>
            <a:r>
              <a:rPr lang="fr-FR" dirty="0"/>
              <a:t>Permet d'absorber des pics d'activité ou des ruptures de flux.</a:t>
            </a:r>
          </a:p>
          <a:p>
            <a:pPr>
              <a:spcAft>
                <a:spcPts val="1000"/>
              </a:spcAft>
              <a:defRPr sz="950">
                <a:solidFill>
                  <a:srgbClr val="635BFF"/>
                </a:solidFill>
                <a:latin typeface="Segoe UI"/>
              </a:defRPr>
            </a:pPr>
            <a:r>
              <a:rPr lang="fr-FR" dirty="0"/>
              <a:t>Traitement asynchrone : </a:t>
            </a:r>
            <a:r>
              <a:rPr lang="fr-FR" dirty="0" err="1"/>
              <a:t>Airflow</a:t>
            </a:r>
            <a:r>
              <a:rPr lang="fr-FR" dirty="0"/>
              <a:t> consomme les fichiers dès qu'ils apparaissent, garantissant l'absence de saturation mémoire.</a:t>
            </a:r>
          </a:p>
          <a:p>
            <a:pPr marL="0" marR="0" lvl="0" indent="0" algn="l" defTabSz="914400" rtl="0" eaLnBrk="1" fontAlgn="auto" latinLnBrk="0" hangingPunct="1">
              <a:lnSpc>
                <a:spcPct val="115000"/>
              </a:lnSpc>
              <a:spcBef>
                <a:spcPts val="0"/>
              </a:spcBef>
              <a:spcAft>
                <a:spcPts val="1000"/>
              </a:spcAft>
              <a:buClrTx/>
              <a:buSzTx/>
              <a:buFontTx/>
              <a:buNone/>
              <a:tabLst/>
              <a:defRPr sz="1500" b="1">
                <a:solidFill>
                  <a:srgbClr val="635BFF"/>
                </a:solidFill>
                <a:latin typeface="Segoe UI"/>
              </a:defRPr>
            </a:pPr>
            <a:endParaRPr lang="fr-FR" dirty="0"/>
          </a:p>
          <a:p>
            <a:r>
              <a:rPr lang="fr-FR" dirty="0"/>
              <a:t>DAG asynchrone récurrent : boucle de traitement automatique.</a:t>
            </a:r>
          </a:p>
          <a:p>
            <a:r>
              <a:rPr lang="fr-FR" dirty="0" err="1"/>
              <a:t>Branching</a:t>
            </a:r>
            <a:r>
              <a:rPr lang="fr-FR" dirty="0"/>
              <a:t> logique :</a:t>
            </a:r>
          </a:p>
          <a:p>
            <a:r>
              <a:rPr lang="fr-FR" dirty="0"/>
              <a:t>Si des fichiers sont présents dans la file -&gt; exécution de l'inférence et auto-déclenchement de la boucle suivante.</a:t>
            </a:r>
          </a:p>
          <a:p>
            <a:r>
              <a:rPr lang="fr-FR" dirty="0"/>
              <a:t>Si la file est vide -&gt; fin propre de l'exécution.</a:t>
            </a:r>
          </a:p>
          <a:p>
            <a:endParaRPr lang="fr-FR" dirty="0"/>
          </a:p>
          <a:p>
            <a:r>
              <a:rPr lang="fr-FR" b="1" dirty="0"/>
              <a:t>Puissance du Calcul Distribué avec Ray</a:t>
            </a:r>
          </a:p>
          <a:p>
            <a:r>
              <a:rPr lang="fr-FR" dirty="0"/>
              <a:t>Ray Head &amp; </a:t>
            </a:r>
            <a:r>
              <a:rPr lang="fr-FR" dirty="0" err="1"/>
              <a:t>Workers</a:t>
            </a:r>
            <a:r>
              <a:rPr lang="fr-FR" dirty="0"/>
              <a:t> : scalabilité horizontale.</a:t>
            </a:r>
          </a:p>
          <a:p>
            <a:r>
              <a:rPr lang="fr-FR" dirty="0"/>
              <a:t>Inférence parallélisée sur le cluster Ray.</a:t>
            </a:r>
          </a:p>
          <a:p>
            <a:r>
              <a:rPr lang="fr-FR" dirty="0"/>
              <a:t>Permet de traiter des millions de lignes par seconde en distribuant les calculs sur plusieurs nœuds CPU ou GPU.</a:t>
            </a:r>
          </a:p>
          <a:p>
            <a:endParaRPr lang="fr-FR" dirty="0"/>
          </a:p>
          <a:p>
            <a:pPr marL="0" marR="0" lvl="0" indent="0" algn="l" defTabSz="914400" rtl="0" eaLnBrk="1" fontAlgn="auto" latinLnBrk="0" hangingPunct="1">
              <a:lnSpc>
                <a:spcPct val="115000"/>
              </a:lnSpc>
              <a:spcBef>
                <a:spcPts val="0"/>
              </a:spcBef>
              <a:spcAft>
                <a:spcPts val="1000"/>
              </a:spcAft>
              <a:buClrTx/>
              <a:buSzTx/>
              <a:buFontTx/>
              <a:buNone/>
              <a:tabLst/>
              <a:defRPr sz="1500" b="1">
                <a:solidFill>
                  <a:srgbClr val="635BFF"/>
                </a:solidFill>
                <a:latin typeface="Segoe UI"/>
              </a:defRPr>
            </a:pPr>
            <a:endParaRPr lang="fr-FR" dirty="0"/>
          </a:p>
          <a:p>
            <a:pPr>
              <a:lnSpc>
                <a:spcPct val="115000"/>
              </a:lnSpc>
              <a:spcAft>
                <a:spcPts val="1000"/>
              </a:spcAft>
              <a:defRPr sz="1500" b="1">
                <a:solidFill>
                  <a:srgbClr val="635BFF"/>
                </a:solidFill>
                <a:latin typeface="Segoe UI"/>
              </a:defRPr>
            </a:pPr>
            <a:endParaRPr lang="fr-FR" dirty="0"/>
          </a:p>
          <a:p>
            <a:pPr>
              <a:lnSpc>
                <a:spcPct val="115000"/>
              </a:lnSpc>
              <a:spcAft>
                <a:spcPts val="1000"/>
              </a:spcAft>
              <a:defRPr sz="1500" b="1">
                <a:solidFill>
                  <a:srgbClr val="635BFF"/>
                </a:solidFill>
                <a:latin typeface="Segoe UI"/>
              </a:defRPr>
            </a:pPr>
            <a:r>
              <a:rPr lang="fr-FR" dirty="0"/>
              <a:t>Dossier `data/queue` </a:t>
            </a:r>
          </a:p>
          <a:p>
            <a:pPr>
              <a:lnSpc>
                <a:spcPct val="115000"/>
              </a:lnSpc>
              <a:spcAft>
                <a:spcPts val="1000"/>
              </a:spcAft>
              <a:defRPr sz="1500" b="1">
                <a:solidFill>
                  <a:srgbClr val="635BFF"/>
                </a:solidFill>
                <a:latin typeface="Segoe UI"/>
              </a:defRPr>
            </a:pPr>
            <a:endParaRPr lang="fr-FR" dirty="0"/>
          </a:p>
          <a:p>
            <a:pPr>
              <a:lnSpc>
                <a:spcPct val="115000"/>
              </a:lnSpc>
              <a:spcAft>
                <a:spcPts val="1000"/>
              </a:spcAft>
              <a:defRPr sz="1500" b="1">
                <a:solidFill>
                  <a:srgbClr val="635BFF"/>
                </a:solidFill>
                <a:latin typeface="Segoe UI"/>
              </a:defRPr>
            </a:pPr>
            <a:r>
              <a:rPr lang="fr-FR" dirty="0"/>
              <a:t>Lecture mémoire Redis en moins de 2 ms.</a:t>
            </a:r>
          </a:p>
          <a:p>
            <a:pPr>
              <a:lnSpc>
                <a:spcPct val="115000"/>
              </a:lnSpc>
              <a:spcAft>
                <a:spcPts val="1000"/>
              </a:spcAft>
              <a:defRPr sz="1500">
                <a:solidFill>
                  <a:srgbClr val="635BFF"/>
                </a:solidFill>
                <a:latin typeface="Segoe UI"/>
              </a:defRPr>
            </a:pPr>
            <a:r>
              <a:rPr lang="fr-FR" dirty="0"/>
              <a:t>• Règles déterministes : Seuil de montant, tranches horaires critiques.</a:t>
            </a:r>
          </a:p>
          <a:p>
            <a:pPr>
              <a:lnSpc>
                <a:spcPct val="115000"/>
              </a:lnSpc>
              <a:spcAft>
                <a:spcPts val="1000"/>
              </a:spcAft>
              <a:defRPr sz="1500">
                <a:solidFill>
                  <a:srgbClr val="635BFF"/>
                </a:solidFill>
                <a:latin typeface="Segoe UI"/>
              </a:defRPr>
            </a:pPr>
            <a:r>
              <a:rPr lang="fr-FR" dirty="0"/>
              <a:t>• Économie de ressources : Détecte les fraudes évidentes sans solliciter le modèle ML.</a:t>
            </a:r>
          </a:p>
          <a:p>
            <a:pPr>
              <a:lnSpc>
                <a:spcPct val="115000"/>
              </a:lnSpc>
              <a:spcAft>
                <a:spcPts val="1000"/>
              </a:spcAft>
              <a:defRPr sz="1500" b="1">
                <a:solidFill>
                  <a:srgbClr val="635BFF"/>
                </a:solidFill>
                <a:latin typeface="Segoe UI"/>
              </a:defRPr>
            </a:pPr>
            <a:endParaRPr lang="fr-FR" dirty="0"/>
          </a:p>
          <a:p>
            <a:pPr>
              <a:lnSpc>
                <a:spcPct val="115000"/>
              </a:lnSpc>
              <a:spcAft>
                <a:spcPts val="1000"/>
              </a:spcAft>
              <a:defRPr sz="1500" b="1">
                <a:solidFill>
                  <a:srgbClr val="635BFF"/>
                </a:solidFill>
                <a:latin typeface="Segoe UI"/>
              </a:defRPr>
            </a:pPr>
            <a:r>
              <a:rPr lang="fr-FR" dirty="0"/>
              <a:t>• PostgreSQL : Table `</a:t>
            </a:r>
            <a:r>
              <a:rPr lang="fr-FR" dirty="0" err="1"/>
              <a:t>silver.rawdata</a:t>
            </a:r>
            <a:r>
              <a:rPr lang="fr-FR" dirty="0"/>
              <a:t>` stockant les transactions brutes en insert </a:t>
            </a:r>
            <a:r>
              <a:rPr lang="fr-FR" dirty="0" err="1"/>
              <a:t>only</a:t>
            </a:r>
            <a:endParaRPr lang="fr-FR" dirty="0"/>
          </a:p>
          <a:p>
            <a:pPr>
              <a:lnSpc>
                <a:spcPct val="115000"/>
              </a:lnSpc>
              <a:spcAft>
                <a:spcPts val="1000"/>
              </a:spcAft>
              <a:defRPr sz="1500">
                <a:solidFill>
                  <a:srgbClr val="635BFF"/>
                </a:solidFill>
                <a:latin typeface="Segoe UI"/>
              </a:defRPr>
            </a:pPr>
            <a:r>
              <a:rPr lang="fr-FR" dirty="0"/>
              <a:t>• Résilience aux doublons : Clause SQL `ON CONFLICT (</a:t>
            </a:r>
            <a:r>
              <a:rPr lang="fr-FR" dirty="0" err="1"/>
              <a:t>trans_num</a:t>
            </a:r>
            <a:r>
              <a:rPr lang="fr-FR" dirty="0"/>
              <a:t>) DO NOTHING;`.</a:t>
            </a:r>
          </a:p>
          <a:p>
            <a:pPr>
              <a:lnSpc>
                <a:spcPct val="115000"/>
              </a:lnSpc>
              <a:spcAft>
                <a:spcPts val="1000"/>
              </a:spcAft>
              <a:defRPr sz="1500">
                <a:solidFill>
                  <a:srgbClr val="635BFF"/>
                </a:solidFill>
                <a:latin typeface="Segoe UI"/>
              </a:defRPr>
            </a:pPr>
            <a:r>
              <a:rPr lang="fr-FR" dirty="0"/>
              <a:t>• Métriques : Latences, prédictions, scores Redis et valeurs SHAP (JSONB).</a:t>
            </a:r>
          </a:p>
          <a:p>
            <a:endParaRPr lang="fr-FR" dirty="0"/>
          </a:p>
          <a:p>
            <a:endParaRPr dirty="0"/>
          </a:p>
        </p:txBody>
      </p:sp>
      <p:sp>
        <p:nvSpPr>
          <p:cNvPr id="4" name="Slide Number Placeholder 3">
            <a:extLst>
              <a:ext uri="{FF2B5EF4-FFF2-40B4-BE49-F238E27FC236}">
                <a16:creationId xmlns:a16="http://schemas.microsoft.com/office/drawing/2014/main" id="{FA4C6D2E-DA04-DCDD-D05F-1625127F494D}"/>
              </a:ext>
            </a:extLst>
          </p:cNvPr>
          <p:cNvSpPr>
            <a:spLocks noGrp="1"/>
          </p:cNvSpPr>
          <p:nvPr>
            <p:ph type="sldNum" sz="quarter" idx="5"/>
          </p:nvPr>
        </p:nvSpPr>
        <p:spPr/>
      </p:sp>
    </p:spTree>
    <p:extLst>
      <p:ext uri="{BB962C8B-B14F-4D97-AF65-F5344CB8AC3E}">
        <p14:creationId xmlns:p14="http://schemas.microsoft.com/office/powerpoint/2010/main" val="4562673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7F496-26EA-F952-02C2-40B6E9325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E1509-64EB-BC8C-61A5-73E2AFC1E67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0C21E5C-72C2-22C3-F9BD-559F94C3A66C}"/>
              </a:ext>
            </a:extLst>
          </p:cNvPr>
          <p:cNvSpPr>
            <a:spLocks noGrp="1"/>
          </p:cNvSpPr>
          <p:nvPr>
            <p:ph type="body" sz="quarter" idx="3"/>
          </p:nvPr>
        </p:nvSpPr>
        <p:spPr/>
        <p:txBody>
          <a:bodyPr/>
          <a:lstStyle/>
          <a:p>
            <a:r>
              <a:rPr lang="fr-FR" dirty="0" err="1"/>
              <a:t>Evidently</a:t>
            </a:r>
            <a:r>
              <a:rPr lang="fr-FR" dirty="0"/>
              <a:t> AI : Intégré dans notre pipeline d'audit quotidien.</a:t>
            </a:r>
          </a:p>
          <a:p>
            <a:r>
              <a:rPr lang="fr-FR" dirty="0"/>
              <a:t>Calcul du drift sur les variables numériques (Test de Kolmogorov-Smirnov) et catégorielles (Test du Chi2).</a:t>
            </a:r>
          </a:p>
          <a:p>
            <a:r>
              <a:rPr lang="fr-FR" dirty="0"/>
              <a:t>Génération d'un rapport complet (`</a:t>
            </a:r>
            <a:r>
              <a:rPr lang="fr-FR" dirty="0" err="1"/>
              <a:t>monitoringmetrics.json</a:t>
            </a:r>
            <a:r>
              <a:rPr lang="fr-FR" dirty="0"/>
              <a:t>`) et d'un rapport visuel HTML interactif.</a:t>
            </a:r>
          </a:p>
          <a:p>
            <a:endParaRPr lang="fr-FR" dirty="0"/>
          </a:p>
          <a:p>
            <a:r>
              <a:rPr lang="fr-FR" dirty="0"/>
              <a:t>Orchestré par un DAG </a:t>
            </a:r>
            <a:r>
              <a:rPr lang="fr-FR" dirty="0" err="1"/>
              <a:t>Airflow</a:t>
            </a:r>
            <a:r>
              <a:rPr lang="fr-FR" dirty="0"/>
              <a:t> quotidien.</a:t>
            </a:r>
          </a:p>
          <a:p>
            <a:r>
              <a:rPr lang="fr-FR" dirty="0" err="1"/>
              <a:t>Branching</a:t>
            </a:r>
            <a:r>
              <a:rPr lang="fr-FR" dirty="0"/>
              <a:t> conditionnel basé sur le résultat d'</a:t>
            </a:r>
            <a:r>
              <a:rPr lang="fr-FR" dirty="0" err="1"/>
              <a:t>Evidently</a:t>
            </a:r>
            <a:r>
              <a:rPr lang="fr-FR" dirty="0"/>
              <a:t> AI :</a:t>
            </a:r>
          </a:p>
          <a:p>
            <a:r>
              <a:rPr lang="fr-FR" dirty="0"/>
              <a:t>Si la dérive dépasse le seuil critique (p-value &lt; 0.05 sur les caractéristiques clés) -&gt; Déclenchement automatique du réentraînement.</a:t>
            </a:r>
          </a:p>
          <a:p>
            <a:r>
              <a:rPr lang="fr-FR" dirty="0"/>
              <a:t>Sinon -&gt; Le modèle en place est conservé.</a:t>
            </a:r>
          </a:p>
          <a:p>
            <a:endParaRPr lang="fr-FR" dirty="0"/>
          </a:p>
          <a:p>
            <a:endParaRPr lang="fr-FR" dirty="0"/>
          </a:p>
          <a:p>
            <a:endParaRPr lang="fr-FR" dirty="0"/>
          </a:p>
          <a:p>
            <a:r>
              <a:rPr lang="fr-FR" dirty="0"/>
              <a:t>Réentraînement Distribue &amp; Optimisation (</a:t>
            </a:r>
            <a:r>
              <a:rPr lang="fr-FR" dirty="0" err="1"/>
              <a:t>Optuna</a:t>
            </a:r>
            <a:r>
              <a:rPr lang="fr-FR" dirty="0"/>
              <a:t>)</a:t>
            </a:r>
          </a:p>
          <a:p>
            <a:r>
              <a:rPr lang="fr-FR" dirty="0"/>
              <a:t>Exécuté sur le cluster Ray (Ray Train pour le calcul réparti).</a:t>
            </a:r>
          </a:p>
          <a:p>
            <a:r>
              <a:rPr lang="fr-FR" dirty="0" err="1"/>
              <a:t>Optuna</a:t>
            </a:r>
            <a:r>
              <a:rPr lang="fr-FR" dirty="0"/>
              <a:t> : Recherche d'hyperparamètres (HPO) en testant plusieurs configurations d'arbre (profondeur, </a:t>
            </a:r>
            <a:r>
              <a:rPr lang="fr-FR" dirty="0" err="1"/>
              <a:t>learning</a:t>
            </a:r>
            <a:r>
              <a:rPr lang="fr-FR" dirty="0"/>
              <a:t> rate).</a:t>
            </a:r>
          </a:p>
          <a:p>
            <a:r>
              <a:rPr lang="fr-FR" dirty="0"/>
              <a:t>Métrique cible maximisée : Le score $F2$ de la classe Fraude sur les données réelles de </a:t>
            </a:r>
            <a:r>
              <a:rPr lang="fr-FR" dirty="0" err="1"/>
              <a:t>Postgres</a:t>
            </a:r>
            <a:r>
              <a:rPr lang="fr-FR" dirty="0"/>
              <a:t>.</a:t>
            </a:r>
          </a:p>
          <a:p>
            <a:endParaRPr lang="fr-FR" dirty="0"/>
          </a:p>
          <a:p>
            <a:endParaRPr lang="fr-FR" dirty="0"/>
          </a:p>
          <a:p>
            <a:endParaRPr dirty="0"/>
          </a:p>
        </p:txBody>
      </p:sp>
      <p:sp>
        <p:nvSpPr>
          <p:cNvPr id="4" name="Slide Number Placeholder 3">
            <a:extLst>
              <a:ext uri="{FF2B5EF4-FFF2-40B4-BE49-F238E27FC236}">
                <a16:creationId xmlns:a16="http://schemas.microsoft.com/office/drawing/2014/main" id="{9BBE3754-5924-911A-8356-9809E1D8520C}"/>
              </a:ext>
            </a:extLst>
          </p:cNvPr>
          <p:cNvSpPr>
            <a:spLocks noGrp="1"/>
          </p:cNvSpPr>
          <p:nvPr>
            <p:ph type="sldNum" sz="quarter" idx="5"/>
          </p:nvPr>
        </p:nvSpPr>
        <p:spPr/>
      </p:sp>
    </p:spTree>
    <p:extLst>
      <p:ext uri="{BB962C8B-B14F-4D97-AF65-F5344CB8AC3E}">
        <p14:creationId xmlns:p14="http://schemas.microsoft.com/office/powerpoint/2010/main" val="3268117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41DF8-2513-9FBA-84EB-8B43271AD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FD146-BF5F-3580-9CB8-ADBFB207A6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064FDE8-A3DD-7F95-8133-4A20A1FAB8C1}"/>
              </a:ext>
            </a:extLst>
          </p:cNvPr>
          <p:cNvSpPr>
            <a:spLocks noGrp="1"/>
          </p:cNvSpPr>
          <p:nvPr>
            <p:ph type="body" sz="quarter" idx="3"/>
          </p:nvPr>
        </p:nvSpPr>
        <p:spPr/>
        <p:txBody>
          <a:bodyPr/>
          <a:lstStyle/>
          <a:p>
            <a:pPr>
              <a:lnSpc>
                <a:spcPct val="115000"/>
              </a:lnSpc>
              <a:spcAft>
                <a:spcPts val="1000"/>
              </a:spcAft>
              <a:defRPr sz="1500" b="1">
                <a:solidFill>
                  <a:srgbClr val="635BFF"/>
                </a:solidFill>
                <a:latin typeface="Segoe UI"/>
              </a:defRPr>
            </a:pPr>
            <a:r>
              <a:rPr lang="fr-FR" dirty="0"/>
              <a:t>• </a:t>
            </a:r>
            <a:r>
              <a:rPr lang="fr-FR" dirty="0" err="1"/>
              <a:t>FastAPI</a:t>
            </a:r>
            <a:r>
              <a:rPr lang="fr-FR" dirty="0"/>
              <a:t> : Framework moderne, asynchrone et performant.</a:t>
            </a:r>
          </a:p>
          <a:p>
            <a:pPr>
              <a:lnSpc>
                <a:spcPct val="115000"/>
              </a:lnSpc>
              <a:spcAft>
                <a:spcPts val="1000"/>
              </a:spcAft>
              <a:defRPr sz="1500">
                <a:solidFill>
                  <a:srgbClr val="635BFF"/>
                </a:solidFill>
                <a:latin typeface="Segoe UI"/>
              </a:defRPr>
            </a:pPr>
            <a:r>
              <a:rPr lang="fr-FR" dirty="0"/>
              <a:t>• Validation stricte : Typage et structure validés par schémas </a:t>
            </a:r>
            <a:r>
              <a:rPr lang="fr-FR" dirty="0" err="1"/>
              <a:t>Pydantic</a:t>
            </a:r>
            <a:r>
              <a:rPr lang="fr-FR" dirty="0"/>
              <a:t>.</a:t>
            </a:r>
          </a:p>
          <a:p>
            <a:pPr>
              <a:lnSpc>
                <a:spcPct val="115000"/>
              </a:lnSpc>
              <a:spcAft>
                <a:spcPts val="1000"/>
              </a:spcAft>
              <a:defRPr sz="1500">
                <a:solidFill>
                  <a:srgbClr val="635BFF"/>
                </a:solidFill>
                <a:latin typeface="Segoe UI"/>
              </a:defRPr>
            </a:pPr>
            <a:r>
              <a:rPr lang="fr-FR" dirty="0"/>
              <a:t>• Route `/</a:t>
            </a:r>
            <a:r>
              <a:rPr lang="fr-FR" dirty="0" err="1"/>
              <a:t>predict_batch</a:t>
            </a:r>
            <a:r>
              <a:rPr lang="fr-FR" dirty="0"/>
              <a:t>` : Supporte des lots de transactions au format JSON.</a:t>
            </a:r>
          </a:p>
          <a:p>
            <a:pPr>
              <a:lnSpc>
                <a:spcPct val="115000"/>
              </a:lnSpc>
              <a:spcAft>
                <a:spcPts val="1000"/>
              </a:spcAft>
              <a:defRPr sz="1500">
                <a:solidFill>
                  <a:srgbClr val="635BFF"/>
                </a:solidFill>
                <a:latin typeface="Segoe UI"/>
              </a:defRPr>
            </a:pPr>
            <a:r>
              <a:rPr lang="fr-FR" dirty="0"/>
              <a:t>• Auto-documentation : Swagger UI interactif généré automatiquement.</a:t>
            </a:r>
          </a:p>
          <a:p>
            <a:endParaRPr lang="fr-FR" dirty="0"/>
          </a:p>
          <a:p>
            <a:pPr>
              <a:lnSpc>
                <a:spcPct val="115000"/>
              </a:lnSpc>
              <a:spcAft>
                <a:spcPts val="1000"/>
              </a:spcAft>
              <a:defRPr sz="1500" b="1">
                <a:solidFill>
                  <a:srgbClr val="0F172A"/>
                </a:solidFill>
                <a:latin typeface="Segoe UI"/>
              </a:defRPr>
            </a:pPr>
            <a:r>
              <a:rPr lang="fr-FR" dirty="0"/>
              <a:t>• Ingénierie de caractéristiques : Encodage cyclique trigonométrique, calcul de distance.</a:t>
            </a:r>
          </a:p>
          <a:p>
            <a:pPr>
              <a:lnSpc>
                <a:spcPct val="115000"/>
              </a:lnSpc>
              <a:spcAft>
                <a:spcPts val="1000"/>
              </a:spcAft>
              <a:defRPr sz="1500">
                <a:solidFill>
                  <a:srgbClr val="0F172A"/>
                </a:solidFill>
                <a:latin typeface="Segoe UI"/>
              </a:defRPr>
            </a:pPr>
            <a:r>
              <a:rPr lang="fr-FR" dirty="0"/>
              <a:t>• Vectorisation </a:t>
            </a:r>
            <a:r>
              <a:rPr lang="fr-FR" dirty="0" err="1"/>
              <a:t>Scikit</a:t>
            </a:r>
            <a:r>
              <a:rPr lang="fr-FR" dirty="0"/>
              <a:t>-Learn : `</a:t>
            </a:r>
            <a:r>
              <a:rPr lang="fr-FR" dirty="0" err="1"/>
              <a:t>TableVectorizer</a:t>
            </a:r>
            <a:r>
              <a:rPr lang="fr-FR" dirty="0"/>
              <a:t>` de la librairie </a:t>
            </a:r>
            <a:r>
              <a:rPr lang="fr-FR" dirty="0" err="1"/>
              <a:t>Skrub</a:t>
            </a:r>
            <a:r>
              <a:rPr lang="fr-FR" dirty="0"/>
              <a:t>.</a:t>
            </a:r>
          </a:p>
          <a:p>
            <a:pPr>
              <a:lnSpc>
                <a:spcPct val="115000"/>
              </a:lnSpc>
              <a:spcAft>
                <a:spcPts val="1000"/>
              </a:spcAft>
              <a:defRPr sz="1500">
                <a:solidFill>
                  <a:srgbClr val="0F172A"/>
                </a:solidFill>
                <a:latin typeface="Segoe UI"/>
              </a:defRPr>
            </a:pPr>
            <a:r>
              <a:rPr lang="fr-FR" dirty="0"/>
              <a:t>• Classifieur </a:t>
            </a:r>
            <a:r>
              <a:rPr lang="fr-FR" dirty="0" err="1"/>
              <a:t>XGBoost</a:t>
            </a:r>
            <a:r>
              <a:rPr lang="fr-FR" dirty="0"/>
              <a:t> : Modèle robuste gérant le fort déséquilibre de classes.</a:t>
            </a:r>
          </a:p>
          <a:p>
            <a:pPr>
              <a:lnSpc>
                <a:spcPct val="115000"/>
              </a:lnSpc>
              <a:spcAft>
                <a:spcPts val="1000"/>
              </a:spcAft>
              <a:defRPr sz="1500">
                <a:solidFill>
                  <a:srgbClr val="0F172A"/>
                </a:solidFill>
                <a:latin typeface="Segoe UI"/>
              </a:defRPr>
            </a:pPr>
            <a:r>
              <a:rPr lang="fr-FR" dirty="0"/>
              <a:t>• Chargement </a:t>
            </a:r>
            <a:r>
              <a:rPr lang="fr-FR" dirty="0" err="1"/>
              <a:t>MLflow</a:t>
            </a:r>
            <a:r>
              <a:rPr lang="fr-FR" dirty="0"/>
              <a:t> : Modèle champion récupéré dynamiquement à l'initialisation de l’API</a:t>
            </a:r>
          </a:p>
          <a:p>
            <a:pPr>
              <a:lnSpc>
                <a:spcPct val="115000"/>
              </a:lnSpc>
              <a:spcAft>
                <a:spcPts val="1000"/>
              </a:spcAft>
              <a:defRPr sz="1500">
                <a:solidFill>
                  <a:srgbClr val="0F172A"/>
                </a:solidFill>
                <a:latin typeface="Segoe UI"/>
              </a:defRPr>
            </a:pPr>
            <a:endParaRPr lang="fr-FR" dirty="0"/>
          </a:p>
          <a:p>
            <a:pPr>
              <a:lnSpc>
                <a:spcPct val="115000"/>
              </a:lnSpc>
              <a:spcAft>
                <a:spcPts val="1000"/>
              </a:spcAft>
              <a:defRPr sz="1500" b="1">
                <a:solidFill>
                  <a:srgbClr val="0F172A"/>
                </a:solidFill>
                <a:latin typeface="Segoe UI"/>
              </a:defRPr>
            </a:pPr>
            <a:r>
              <a:rPr lang="fr-FR" dirty="0"/>
              <a:t>SHAP (</a:t>
            </a:r>
            <a:r>
              <a:rPr lang="fr-FR" dirty="0" err="1"/>
              <a:t>TreeExplainer</a:t>
            </a:r>
            <a:r>
              <a:rPr lang="fr-FR" dirty="0"/>
              <a:t>) : Explicabilité locale exécutée en direct sur chaque transaction.</a:t>
            </a:r>
          </a:p>
          <a:p>
            <a:pPr>
              <a:lnSpc>
                <a:spcPct val="115000"/>
              </a:lnSpc>
              <a:spcAft>
                <a:spcPts val="1000"/>
              </a:spcAft>
              <a:defRPr sz="1500">
                <a:solidFill>
                  <a:srgbClr val="0F172A"/>
                </a:solidFill>
                <a:latin typeface="Segoe UI"/>
              </a:defRPr>
            </a:pPr>
            <a:r>
              <a:rPr lang="fr-FR" dirty="0"/>
              <a:t>• Sauvegarde en base : Stockage des contributions marginales au format JSONB.</a:t>
            </a:r>
          </a:p>
          <a:p>
            <a:pPr>
              <a:lnSpc>
                <a:spcPct val="115000"/>
              </a:lnSpc>
              <a:spcAft>
                <a:spcPts val="1000"/>
              </a:spcAft>
              <a:defRPr sz="1500">
                <a:solidFill>
                  <a:srgbClr val="0F172A"/>
                </a:solidFill>
                <a:latin typeface="Segoe UI"/>
              </a:defRPr>
            </a:pPr>
            <a:r>
              <a:rPr lang="fr-FR" dirty="0"/>
              <a:t>• Transparence métier : Permet de justifier pourquoi une transaction a été refusée.</a:t>
            </a:r>
          </a:p>
          <a:p>
            <a:pPr>
              <a:lnSpc>
                <a:spcPct val="115000"/>
              </a:lnSpc>
              <a:spcAft>
                <a:spcPts val="1000"/>
              </a:spcAft>
              <a:defRPr sz="1500">
                <a:solidFill>
                  <a:srgbClr val="0F172A"/>
                </a:solidFill>
                <a:latin typeface="Segoe UI"/>
              </a:defRPr>
            </a:pPr>
            <a:r>
              <a:rPr lang="fr-FR" dirty="0"/>
              <a:t>• Extraction des tendances : Analyse globale des variables influentes à partir des logs.</a:t>
            </a:r>
          </a:p>
          <a:p>
            <a:pPr>
              <a:lnSpc>
                <a:spcPct val="115000"/>
              </a:lnSpc>
              <a:spcAft>
                <a:spcPts val="1000"/>
              </a:spcAft>
              <a:defRPr sz="1500">
                <a:solidFill>
                  <a:srgbClr val="0F172A"/>
                </a:solidFill>
                <a:latin typeface="Segoe UI"/>
              </a:defRPr>
            </a:pPr>
            <a:endParaRPr lang="fr-FR" dirty="0"/>
          </a:p>
          <a:p>
            <a:pPr>
              <a:lnSpc>
                <a:spcPct val="115000"/>
              </a:lnSpc>
              <a:spcAft>
                <a:spcPts val="1000"/>
              </a:spcAft>
              <a:defRPr sz="1500">
                <a:solidFill>
                  <a:srgbClr val="0F172A"/>
                </a:solidFill>
                <a:latin typeface="Segoe UI"/>
              </a:defRPr>
            </a:pPr>
            <a:endParaRPr lang="fr-FR" dirty="0"/>
          </a:p>
          <a:p>
            <a:pPr>
              <a:lnSpc>
                <a:spcPct val="115000"/>
              </a:lnSpc>
              <a:spcAft>
                <a:spcPts val="1000"/>
              </a:spcAft>
              <a:defRPr sz="1500" b="1">
                <a:solidFill>
                  <a:srgbClr val="0F172A"/>
                </a:solidFill>
                <a:latin typeface="Segoe UI"/>
              </a:defRPr>
            </a:pPr>
            <a:r>
              <a:rPr lang="fr-FR" dirty="0"/>
              <a:t>Ray Cluster : Gestion des ressources CPU/GPU distribuées.</a:t>
            </a:r>
          </a:p>
          <a:p>
            <a:pPr>
              <a:lnSpc>
                <a:spcPct val="115000"/>
              </a:lnSpc>
              <a:spcAft>
                <a:spcPts val="1000"/>
              </a:spcAft>
              <a:defRPr sz="1500">
                <a:solidFill>
                  <a:srgbClr val="0F172A"/>
                </a:solidFill>
                <a:latin typeface="Segoe UI"/>
              </a:defRPr>
            </a:pPr>
            <a:r>
              <a:rPr lang="fr-FR" dirty="0"/>
              <a:t>• Pas de point de défaillance unique (SPOF) grâce à la réplication des </a:t>
            </a:r>
            <a:r>
              <a:rPr lang="fr-FR" dirty="0" err="1"/>
              <a:t>workers</a:t>
            </a:r>
            <a:r>
              <a:rPr lang="fr-FR" dirty="0"/>
              <a:t>.</a:t>
            </a:r>
          </a:p>
          <a:p>
            <a:pPr>
              <a:lnSpc>
                <a:spcPct val="115000"/>
              </a:lnSpc>
              <a:spcAft>
                <a:spcPts val="1000"/>
              </a:spcAft>
              <a:defRPr sz="1500">
                <a:solidFill>
                  <a:srgbClr val="0F172A"/>
                </a:solidFill>
                <a:latin typeface="Segoe UI"/>
              </a:defRPr>
            </a:pPr>
            <a:r>
              <a:rPr lang="fr-FR" dirty="0"/>
              <a:t>• Inférence parallélisée : Distribution efficace des calculs sur des lots de transactions.</a:t>
            </a:r>
          </a:p>
          <a:p>
            <a:pPr>
              <a:lnSpc>
                <a:spcPct val="115000"/>
              </a:lnSpc>
              <a:spcAft>
                <a:spcPts val="1000"/>
              </a:spcAft>
              <a:defRPr sz="1500">
                <a:solidFill>
                  <a:srgbClr val="0F172A"/>
                </a:solidFill>
                <a:latin typeface="Segoe UI"/>
              </a:defRPr>
            </a:pPr>
            <a:r>
              <a:rPr lang="fr-FR" dirty="0"/>
              <a:t>• Suivi en temps réel : Tableau de bord Ray pour monitorer l'usage des ressources.</a:t>
            </a:r>
          </a:p>
          <a:p>
            <a:pPr>
              <a:lnSpc>
                <a:spcPct val="115000"/>
              </a:lnSpc>
              <a:spcAft>
                <a:spcPts val="1000"/>
              </a:spcAft>
              <a:defRPr sz="1500">
                <a:solidFill>
                  <a:srgbClr val="0F172A"/>
                </a:solidFill>
                <a:latin typeface="Segoe UI"/>
              </a:defRPr>
            </a:pPr>
            <a:endParaRPr lang="fr-FR" dirty="0"/>
          </a:p>
          <a:p>
            <a:pPr>
              <a:defRPr sz="2600" b="1">
                <a:solidFill>
                  <a:srgbClr val="0F172A"/>
                </a:solidFill>
                <a:latin typeface="Segoe UI"/>
              </a:defRPr>
            </a:pPr>
            <a:r>
              <a:rPr lang="fr-FR" dirty="0"/>
              <a:t>Découplage complet : L'API ne bloque pas la réponse client.</a:t>
            </a:r>
          </a:p>
          <a:p>
            <a:pPr>
              <a:spcAft>
                <a:spcPts val="1000"/>
              </a:spcAft>
              <a:defRPr sz="2600">
                <a:solidFill>
                  <a:srgbClr val="0F172A"/>
                </a:solidFill>
                <a:latin typeface="Segoe UI"/>
              </a:defRPr>
            </a:pPr>
            <a:r>
              <a:rPr lang="fr-FR" dirty="0"/>
              <a:t>Utilisation des </a:t>
            </a:r>
            <a:r>
              <a:rPr lang="fr-FR" dirty="0" err="1"/>
              <a:t>FastAPI</a:t>
            </a:r>
            <a:r>
              <a:rPr lang="fr-FR" dirty="0"/>
              <a:t> </a:t>
            </a:r>
            <a:r>
              <a:rPr lang="fr-FR" dirty="0" err="1"/>
              <a:t>BackgroundTasks</a:t>
            </a:r>
            <a:r>
              <a:rPr lang="fr-FR" dirty="0"/>
              <a:t>.</a:t>
            </a:r>
          </a:p>
          <a:p>
            <a:pPr>
              <a:spcAft>
                <a:spcPts val="1000"/>
              </a:spcAft>
              <a:defRPr sz="2600">
                <a:solidFill>
                  <a:srgbClr val="0F172A"/>
                </a:solidFill>
                <a:latin typeface="Segoe UI"/>
              </a:defRPr>
            </a:pPr>
            <a:r>
              <a:rPr lang="fr-FR" dirty="0"/>
              <a:t>Envoi immédiat en arrière-plan d'une alerte au serveur du marchand dès qu'une transaction est jugée frauduleuse.</a:t>
            </a:r>
          </a:p>
          <a:p>
            <a:pPr>
              <a:lnSpc>
                <a:spcPct val="115000"/>
              </a:lnSpc>
              <a:spcAft>
                <a:spcPts val="1000"/>
              </a:spcAft>
              <a:defRPr sz="1500">
                <a:solidFill>
                  <a:srgbClr val="0F172A"/>
                </a:solidFill>
                <a:latin typeface="Segoe UI"/>
              </a:defRPr>
            </a:pPr>
            <a:endParaRPr dirty="0"/>
          </a:p>
        </p:txBody>
      </p:sp>
      <p:sp>
        <p:nvSpPr>
          <p:cNvPr id="4" name="Slide Number Placeholder 3">
            <a:extLst>
              <a:ext uri="{FF2B5EF4-FFF2-40B4-BE49-F238E27FC236}">
                <a16:creationId xmlns:a16="http://schemas.microsoft.com/office/drawing/2014/main" id="{1E2C7EB0-3102-D9D3-A358-E7D7452938C9}"/>
              </a:ext>
            </a:extLst>
          </p:cNvPr>
          <p:cNvSpPr>
            <a:spLocks noGrp="1"/>
          </p:cNvSpPr>
          <p:nvPr>
            <p:ph type="sldNum" sz="quarter" idx="5"/>
          </p:nvPr>
        </p:nvSpPr>
        <p:spPr/>
      </p:sp>
    </p:spTree>
    <p:extLst>
      <p:ext uri="{BB962C8B-B14F-4D97-AF65-F5344CB8AC3E}">
        <p14:creationId xmlns:p14="http://schemas.microsoft.com/office/powerpoint/2010/main" val="756739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096EE-7E91-C192-22E0-2005BF5C8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C3A98-3621-4C81-CC67-F420273EE33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F3E273-F710-4D60-9165-F3CE0EAA4446}"/>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fr-FR" sz="1200" b="0" kern="1200" dirty="0">
                <a:solidFill>
                  <a:schemeClr val="tx1"/>
                </a:solidFill>
                <a:effectLst/>
                <a:latin typeface="+mn-lt"/>
                <a:ea typeface="+mn-ea"/>
                <a:cs typeface="+mn-cs"/>
              </a:rPr>
            </a:br>
            <a:br>
              <a:rPr lang="fr-FR" sz="1200" b="0" kern="1200" dirty="0">
                <a:solidFill>
                  <a:schemeClr val="tx1"/>
                </a:solidFill>
                <a:effectLst/>
                <a:latin typeface="+mn-lt"/>
                <a:ea typeface="+mn-ea"/>
                <a:cs typeface="+mn-cs"/>
              </a:rPr>
            </a:br>
            <a:r>
              <a:rPr lang="fr-FR" sz="1200" b="0" kern="1200" dirty="0">
                <a:solidFill>
                  <a:schemeClr val="tx1"/>
                </a:solidFill>
                <a:effectLst/>
                <a:latin typeface="+mn-lt"/>
                <a:ea typeface="+mn-ea"/>
                <a:cs typeface="+mn-cs"/>
              </a:rPr>
              <a:t>Pour répondre à l'obligation réglementaire d'explicabilité, nous intégrons la méthode SHAP en temps réel pour détailler les facteurs d'alerte de chaque transaction jugée suspecte.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Grâce aux </a:t>
            </a:r>
            <a:r>
              <a:rPr lang="fr-FR" sz="1200" b="0" kern="1200" dirty="0" err="1">
                <a:solidFill>
                  <a:schemeClr val="tx1"/>
                </a:solidFill>
                <a:effectLst/>
                <a:latin typeface="+mn-lt"/>
                <a:ea typeface="+mn-ea"/>
                <a:cs typeface="+mn-cs"/>
              </a:rPr>
              <a:t>BackgroundTasks</a:t>
            </a:r>
            <a:r>
              <a:rPr lang="fr-FR" sz="1200" b="0" kern="1200" dirty="0">
                <a:solidFill>
                  <a:schemeClr val="tx1"/>
                </a:solidFill>
                <a:effectLst/>
                <a:latin typeface="+mn-lt"/>
                <a:ea typeface="+mn-ea"/>
                <a:cs typeface="+mn-cs"/>
              </a:rPr>
              <a:t> de </a:t>
            </a:r>
            <a:r>
              <a:rPr lang="fr-FR" sz="1200" b="0" kern="1200" dirty="0" err="1">
                <a:solidFill>
                  <a:schemeClr val="tx1"/>
                </a:solidFill>
                <a:effectLst/>
                <a:latin typeface="+mn-lt"/>
                <a:ea typeface="+mn-ea"/>
                <a:cs typeface="+mn-cs"/>
              </a:rPr>
              <a:t>FastAPI</a:t>
            </a:r>
            <a:r>
              <a:rPr lang="fr-FR" sz="1200" b="0" kern="1200" dirty="0">
                <a:solidFill>
                  <a:schemeClr val="tx1"/>
                </a:solidFill>
                <a:effectLst/>
                <a:latin typeface="+mn-lt"/>
                <a:ea typeface="+mn-ea"/>
                <a:cs typeface="+mn-cs"/>
              </a:rPr>
              <a:t>, le calcul d'explicabilité et l'envoi de la notification au marchand se font en arrière-plan. Cela nous permet de répondre au client en 8 à 15 millisecondes en moyenne en local, ce qui est très largement en dessous de notre SLA de 100 millisecondes.</a:t>
            </a:r>
          </a:p>
          <a:p>
            <a:br>
              <a:rPr lang="fr-FR" sz="1200" b="0" kern="1200" dirty="0">
                <a:solidFill>
                  <a:schemeClr val="tx1"/>
                </a:solidFill>
                <a:effectLst/>
                <a:latin typeface="+mn-lt"/>
                <a:ea typeface="+mn-ea"/>
                <a:cs typeface="+mn-cs"/>
              </a:rPr>
            </a:br>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14AB7F9A-2171-F457-A2D9-623D94F4212B}"/>
              </a:ext>
            </a:extLst>
          </p:cNvPr>
          <p:cNvSpPr>
            <a:spLocks noGrp="1"/>
          </p:cNvSpPr>
          <p:nvPr>
            <p:ph type="sldNum" sz="quarter" idx="5"/>
          </p:nvPr>
        </p:nvSpPr>
        <p:spPr/>
      </p:sp>
    </p:spTree>
    <p:extLst>
      <p:ext uri="{BB962C8B-B14F-4D97-AF65-F5344CB8AC3E}">
        <p14:creationId xmlns:p14="http://schemas.microsoft.com/office/powerpoint/2010/main" val="1246859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25478-5EB4-82B9-6C80-8D13A14FA8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CDDD9-AD30-2687-7197-AB445954BFD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2D73952-1883-90A7-D9A0-6403C8146149}"/>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fr-FR" sz="1200" b="0" kern="1200" dirty="0">
                <a:solidFill>
                  <a:schemeClr val="tx1"/>
                </a:solidFill>
                <a:effectLst/>
                <a:latin typeface="+mn-lt"/>
                <a:ea typeface="+mn-ea"/>
                <a:cs typeface="+mn-cs"/>
              </a:rPr>
            </a:br>
            <a:br>
              <a:rPr lang="fr-FR" sz="1200" b="0" kern="1200" dirty="0">
                <a:solidFill>
                  <a:schemeClr val="tx1"/>
                </a:solidFill>
                <a:effectLst/>
                <a:latin typeface="+mn-lt"/>
                <a:ea typeface="+mn-ea"/>
                <a:cs typeface="+mn-cs"/>
              </a:rPr>
            </a:br>
            <a:r>
              <a:rPr lang="fr-FR" sz="1200" b="0" kern="1200" dirty="0">
                <a:solidFill>
                  <a:schemeClr val="tx1"/>
                </a:solidFill>
                <a:effectLst/>
                <a:latin typeface="+mn-lt"/>
                <a:ea typeface="+mn-ea"/>
                <a:cs typeface="+mn-cs"/>
              </a:rPr>
              <a:t>Pour répondre à l'obligation réglementaire d'explicabilité, nous intégrons la méthode SHAP en temps réel pour détailler les facteurs d'alerte de chaque transaction jugée suspecte.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Grâce aux </a:t>
            </a:r>
            <a:r>
              <a:rPr lang="fr-FR" sz="1200" b="0" kern="1200" dirty="0" err="1">
                <a:solidFill>
                  <a:schemeClr val="tx1"/>
                </a:solidFill>
                <a:effectLst/>
                <a:latin typeface="+mn-lt"/>
                <a:ea typeface="+mn-ea"/>
                <a:cs typeface="+mn-cs"/>
              </a:rPr>
              <a:t>BackgroundTasks</a:t>
            </a:r>
            <a:r>
              <a:rPr lang="fr-FR" sz="1200" b="0" kern="1200" dirty="0">
                <a:solidFill>
                  <a:schemeClr val="tx1"/>
                </a:solidFill>
                <a:effectLst/>
                <a:latin typeface="+mn-lt"/>
                <a:ea typeface="+mn-ea"/>
                <a:cs typeface="+mn-cs"/>
              </a:rPr>
              <a:t> de </a:t>
            </a:r>
            <a:r>
              <a:rPr lang="fr-FR" sz="1200" b="0" kern="1200" dirty="0" err="1">
                <a:solidFill>
                  <a:schemeClr val="tx1"/>
                </a:solidFill>
                <a:effectLst/>
                <a:latin typeface="+mn-lt"/>
                <a:ea typeface="+mn-ea"/>
                <a:cs typeface="+mn-cs"/>
              </a:rPr>
              <a:t>FastAPI</a:t>
            </a:r>
            <a:r>
              <a:rPr lang="fr-FR" sz="1200" b="0" kern="1200" dirty="0">
                <a:solidFill>
                  <a:schemeClr val="tx1"/>
                </a:solidFill>
                <a:effectLst/>
                <a:latin typeface="+mn-lt"/>
                <a:ea typeface="+mn-ea"/>
                <a:cs typeface="+mn-cs"/>
              </a:rPr>
              <a:t>, le calcul d'explicabilité et l'envoi de la notification au marchand se font en arrière-plan. Cela nous permet de répondre au client en 8 à 15 millisecondes en moyenne en local, ce qui est très largement en dessous de notre SLA de 100 millisecondes.</a:t>
            </a:r>
          </a:p>
          <a:p>
            <a:br>
              <a:rPr lang="fr-FR" sz="1200" b="0" kern="1200" dirty="0">
                <a:solidFill>
                  <a:schemeClr val="tx1"/>
                </a:solidFill>
                <a:effectLst/>
                <a:latin typeface="+mn-lt"/>
                <a:ea typeface="+mn-ea"/>
                <a:cs typeface="+mn-cs"/>
              </a:rPr>
            </a:br>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AE8DF095-307E-4DAA-FD02-F9349623A347}"/>
              </a:ext>
            </a:extLst>
          </p:cNvPr>
          <p:cNvSpPr>
            <a:spLocks noGrp="1"/>
          </p:cNvSpPr>
          <p:nvPr>
            <p:ph type="sldNum" sz="quarter" idx="5"/>
          </p:nvPr>
        </p:nvSpPr>
        <p:spPr/>
      </p:sp>
    </p:spTree>
    <p:extLst>
      <p:ext uri="{BB962C8B-B14F-4D97-AF65-F5344CB8AC3E}">
        <p14:creationId xmlns:p14="http://schemas.microsoft.com/office/powerpoint/2010/main" val="2175482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F7110-0745-9683-1101-F514EE8F2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8DF88-FE92-719E-BCD5-D426C3AC1EA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09A34D8-FA96-F459-3EDE-4C7298B14743}"/>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fr-FR" sz="1200" b="0" kern="1200" dirty="0">
                <a:solidFill>
                  <a:schemeClr val="tx1"/>
                </a:solidFill>
                <a:effectLst/>
                <a:latin typeface="+mn-lt"/>
                <a:ea typeface="+mn-ea"/>
                <a:cs typeface="+mn-cs"/>
              </a:rPr>
            </a:br>
            <a:br>
              <a:rPr lang="fr-FR" sz="1200" b="0" kern="1200" dirty="0">
                <a:solidFill>
                  <a:schemeClr val="tx1"/>
                </a:solidFill>
                <a:effectLst/>
                <a:latin typeface="+mn-lt"/>
                <a:ea typeface="+mn-ea"/>
                <a:cs typeface="+mn-cs"/>
              </a:rPr>
            </a:br>
            <a:r>
              <a:rPr lang="fr-FR" sz="1200" b="0" kern="1200" dirty="0">
                <a:solidFill>
                  <a:schemeClr val="tx1"/>
                </a:solidFill>
                <a:effectLst/>
                <a:latin typeface="+mn-lt"/>
                <a:ea typeface="+mn-ea"/>
                <a:cs typeface="+mn-cs"/>
              </a:rPr>
              <a:t>Pour répondre à l'obligation réglementaire d'explicabilité, nous intégrons la méthode SHAP en temps réel pour détailler les facteurs d'alerte de chaque transaction jugée suspecte.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Grâce aux </a:t>
            </a:r>
            <a:r>
              <a:rPr lang="fr-FR" sz="1200" b="0" kern="1200" dirty="0" err="1">
                <a:solidFill>
                  <a:schemeClr val="tx1"/>
                </a:solidFill>
                <a:effectLst/>
                <a:latin typeface="+mn-lt"/>
                <a:ea typeface="+mn-ea"/>
                <a:cs typeface="+mn-cs"/>
              </a:rPr>
              <a:t>BackgroundTasks</a:t>
            </a:r>
            <a:r>
              <a:rPr lang="fr-FR" sz="1200" b="0" kern="1200" dirty="0">
                <a:solidFill>
                  <a:schemeClr val="tx1"/>
                </a:solidFill>
                <a:effectLst/>
                <a:latin typeface="+mn-lt"/>
                <a:ea typeface="+mn-ea"/>
                <a:cs typeface="+mn-cs"/>
              </a:rPr>
              <a:t> de </a:t>
            </a:r>
            <a:r>
              <a:rPr lang="fr-FR" sz="1200" b="0" kern="1200" dirty="0" err="1">
                <a:solidFill>
                  <a:schemeClr val="tx1"/>
                </a:solidFill>
                <a:effectLst/>
                <a:latin typeface="+mn-lt"/>
                <a:ea typeface="+mn-ea"/>
                <a:cs typeface="+mn-cs"/>
              </a:rPr>
              <a:t>FastAPI</a:t>
            </a:r>
            <a:r>
              <a:rPr lang="fr-FR" sz="1200" b="0" kern="1200" dirty="0">
                <a:solidFill>
                  <a:schemeClr val="tx1"/>
                </a:solidFill>
                <a:effectLst/>
                <a:latin typeface="+mn-lt"/>
                <a:ea typeface="+mn-ea"/>
                <a:cs typeface="+mn-cs"/>
              </a:rPr>
              <a:t>, le calcul d'explicabilité et l'envoi de la notification au marchand se font en arrière-plan. Cela nous permet de répondre au client en 8 à 15 millisecondes en moyenne en local, ce qui est très largement en dessous de notre SLA de 100 millisecondes.</a:t>
            </a:r>
          </a:p>
          <a:p>
            <a:br>
              <a:rPr lang="fr-FR" sz="1200" b="0" kern="1200" dirty="0">
                <a:solidFill>
                  <a:schemeClr val="tx1"/>
                </a:solidFill>
                <a:effectLst/>
                <a:latin typeface="+mn-lt"/>
                <a:ea typeface="+mn-ea"/>
                <a:cs typeface="+mn-cs"/>
              </a:rPr>
            </a:br>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236D8E24-FA8B-6A74-6685-65AB4E2A4DA8}"/>
              </a:ext>
            </a:extLst>
          </p:cNvPr>
          <p:cNvSpPr>
            <a:spLocks noGrp="1"/>
          </p:cNvSpPr>
          <p:nvPr>
            <p:ph type="sldNum" sz="quarter" idx="5"/>
          </p:nvPr>
        </p:nvSpPr>
        <p:spPr/>
      </p:sp>
    </p:spTree>
    <p:extLst>
      <p:ext uri="{BB962C8B-B14F-4D97-AF65-F5344CB8AC3E}">
        <p14:creationId xmlns:p14="http://schemas.microsoft.com/office/powerpoint/2010/main" val="2407508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E7A4-7B99-6D8E-0850-8695D24E4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4C7BE-53E4-98EF-1107-F59A4233CC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5B23506-EF94-3962-C16C-162DF72D8037}"/>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fr-FR" sz="1200" b="0" kern="1200" dirty="0">
                <a:solidFill>
                  <a:schemeClr val="tx1"/>
                </a:solidFill>
                <a:effectLst/>
                <a:latin typeface="+mn-lt"/>
                <a:ea typeface="+mn-ea"/>
                <a:cs typeface="+mn-cs"/>
              </a:rPr>
            </a:br>
            <a:br>
              <a:rPr lang="fr-FR" sz="1200" b="0" kern="1200" dirty="0">
                <a:solidFill>
                  <a:schemeClr val="tx1"/>
                </a:solidFill>
                <a:effectLst/>
                <a:latin typeface="+mn-lt"/>
                <a:ea typeface="+mn-ea"/>
                <a:cs typeface="+mn-cs"/>
              </a:rPr>
            </a:br>
            <a:r>
              <a:rPr lang="fr-FR" sz="1200" b="0" kern="1200" dirty="0">
                <a:solidFill>
                  <a:schemeClr val="tx1"/>
                </a:solidFill>
                <a:effectLst/>
                <a:latin typeface="+mn-lt"/>
                <a:ea typeface="+mn-ea"/>
                <a:cs typeface="+mn-cs"/>
              </a:rPr>
              <a:t>Pour répondre à l'obligation réglementaire d'explicabilité, nous intégrons la méthode SHAP en temps réel pour détailler les facteurs d'alerte de chaque transaction jugée suspecte.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Grâce aux </a:t>
            </a:r>
            <a:r>
              <a:rPr lang="fr-FR" sz="1200" b="0" kern="1200" dirty="0" err="1">
                <a:solidFill>
                  <a:schemeClr val="tx1"/>
                </a:solidFill>
                <a:effectLst/>
                <a:latin typeface="+mn-lt"/>
                <a:ea typeface="+mn-ea"/>
                <a:cs typeface="+mn-cs"/>
              </a:rPr>
              <a:t>BackgroundTasks</a:t>
            </a:r>
            <a:r>
              <a:rPr lang="fr-FR" sz="1200" b="0" kern="1200" dirty="0">
                <a:solidFill>
                  <a:schemeClr val="tx1"/>
                </a:solidFill>
                <a:effectLst/>
                <a:latin typeface="+mn-lt"/>
                <a:ea typeface="+mn-ea"/>
                <a:cs typeface="+mn-cs"/>
              </a:rPr>
              <a:t> de </a:t>
            </a:r>
            <a:r>
              <a:rPr lang="fr-FR" sz="1200" b="0" kern="1200" dirty="0" err="1">
                <a:solidFill>
                  <a:schemeClr val="tx1"/>
                </a:solidFill>
                <a:effectLst/>
                <a:latin typeface="+mn-lt"/>
                <a:ea typeface="+mn-ea"/>
                <a:cs typeface="+mn-cs"/>
              </a:rPr>
              <a:t>FastAPI</a:t>
            </a:r>
            <a:r>
              <a:rPr lang="fr-FR" sz="1200" b="0" kern="1200" dirty="0">
                <a:solidFill>
                  <a:schemeClr val="tx1"/>
                </a:solidFill>
                <a:effectLst/>
                <a:latin typeface="+mn-lt"/>
                <a:ea typeface="+mn-ea"/>
                <a:cs typeface="+mn-cs"/>
              </a:rPr>
              <a:t>, le calcul d'explicabilité et l'envoi de la notification au marchand se font en arrière-plan. Cela nous permet de répondre au client en 8 à 15 millisecondes en moyenne en local, ce qui est très largement en dessous de notre SLA de 100 millisecondes.</a:t>
            </a:r>
          </a:p>
          <a:p>
            <a:br>
              <a:rPr lang="fr-FR" sz="1200" b="0" kern="1200" dirty="0">
                <a:solidFill>
                  <a:schemeClr val="tx1"/>
                </a:solidFill>
                <a:effectLst/>
                <a:latin typeface="+mn-lt"/>
                <a:ea typeface="+mn-ea"/>
                <a:cs typeface="+mn-cs"/>
              </a:rPr>
            </a:br>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AC92F263-8039-BD20-AE12-BDF448CFA1EA}"/>
              </a:ext>
            </a:extLst>
          </p:cNvPr>
          <p:cNvSpPr>
            <a:spLocks noGrp="1"/>
          </p:cNvSpPr>
          <p:nvPr>
            <p:ph type="sldNum" sz="quarter" idx="5"/>
          </p:nvPr>
        </p:nvSpPr>
        <p:spPr/>
      </p:sp>
    </p:spTree>
    <p:extLst>
      <p:ext uri="{BB962C8B-B14F-4D97-AF65-F5344CB8AC3E}">
        <p14:creationId xmlns:p14="http://schemas.microsoft.com/office/powerpoint/2010/main" val="3183289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98B6E-18A8-8495-EDBB-579BE3844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03FD5-2F1B-E5B7-BBAC-A514FC235A0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FDA906F-58EF-89DC-401F-F04264B7C9A8}"/>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Explicabilité par marchand et par transaction</a:t>
            </a:r>
          </a:p>
          <a:p>
            <a:br>
              <a:rPr lang="fr-FR" sz="1200" b="0" kern="1200" dirty="0">
                <a:solidFill>
                  <a:schemeClr val="tx1"/>
                </a:solidFill>
                <a:effectLst/>
                <a:latin typeface="+mn-lt"/>
                <a:ea typeface="+mn-ea"/>
                <a:cs typeface="+mn-cs"/>
              </a:rPr>
            </a:br>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C8298F34-0BDF-D8C8-2596-3BEF94BE4D76}"/>
              </a:ext>
            </a:extLst>
          </p:cNvPr>
          <p:cNvSpPr>
            <a:spLocks noGrp="1"/>
          </p:cNvSpPr>
          <p:nvPr>
            <p:ph type="sldNum" sz="quarter" idx="5"/>
          </p:nvPr>
        </p:nvSpPr>
        <p:spPr/>
      </p:sp>
    </p:spTree>
    <p:extLst>
      <p:ext uri="{BB962C8B-B14F-4D97-AF65-F5344CB8AC3E}">
        <p14:creationId xmlns:p14="http://schemas.microsoft.com/office/powerpoint/2010/main" val="4270757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7371E-D870-7452-4DDA-F486D888B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4E6EC-8BE1-E472-8D65-BDEAB544B59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EDE97A3-3805-641E-D707-B6B413C16CE0}"/>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Abordons pour finir les processus de qualité logicielle qui garantissent la robustesse de cette infrastructure dans le temps.</a:t>
            </a:r>
          </a:p>
          <a:p>
            <a:endParaRPr dirty="0"/>
          </a:p>
        </p:txBody>
      </p:sp>
      <p:sp>
        <p:nvSpPr>
          <p:cNvPr id="4" name="Slide Number Placeholder 3">
            <a:extLst>
              <a:ext uri="{FF2B5EF4-FFF2-40B4-BE49-F238E27FC236}">
                <a16:creationId xmlns:a16="http://schemas.microsoft.com/office/drawing/2014/main" id="{C72D6A2D-D8F4-654A-90F6-0A17690AAD08}"/>
              </a:ext>
            </a:extLst>
          </p:cNvPr>
          <p:cNvSpPr>
            <a:spLocks noGrp="1"/>
          </p:cNvSpPr>
          <p:nvPr>
            <p:ph type="sldNum" sz="quarter" idx="5"/>
          </p:nvPr>
        </p:nvSpPr>
        <p:spPr/>
      </p:sp>
    </p:spTree>
    <p:extLst>
      <p:ext uri="{BB962C8B-B14F-4D97-AF65-F5344CB8AC3E}">
        <p14:creationId xmlns:p14="http://schemas.microsoft.com/office/powerpoint/2010/main" val="3695135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Un choix méthodologique crucial a été d'adopter le score F2 comme métrique cible.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Dans la détection de fraude, le coût financier et opérationnel d'un faux négatif — c'est-à-dire une vraie fraude manquée — est infiniment plus élevé que celui d'un faux positif,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qui ne génère qu'une légère friction pour le client via une validation par SMS. En choisissant le score F2, nous pénalisons plus fortement les fraudes manquées en accordant deux fois plus de poids au Rappel qu'à la Précision.</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i="0" kern="1200" dirty="0">
                <a:solidFill>
                  <a:schemeClr val="tx1"/>
                </a:solidFill>
                <a:effectLst/>
                <a:latin typeface="+mn-lt"/>
                <a:ea typeface="+mn-ea"/>
                <a:cs typeface="+mn-cs"/>
              </a:rPr>
              <a:t>Rappel : taux de vrais positifs TP /TP + FN</a:t>
            </a:r>
          </a:p>
          <a:p>
            <a:endParaRPr lang="fr-FR" dirty="0"/>
          </a:p>
          <a:p>
            <a:endParaRPr lang="fr-FR" dirty="0"/>
          </a:p>
          <a:p>
            <a:r>
              <a:rPr lang="fr-FR" dirty="0"/>
              <a:t>  • L'</a:t>
            </a:r>
            <a:r>
              <a:rPr lang="fr-FR" dirty="0" err="1"/>
              <a:t>Accuracy</a:t>
            </a:r>
            <a:r>
              <a:rPr lang="fr-FR" dirty="0"/>
              <a:t> est inutile : La fraude est un événement très rare (classes très déséquilibrées, par exemple 99,8% de transactions légitimes). Un modèle naïf qui dit "Jamais de fraude"</a:t>
            </a:r>
          </a:p>
          <a:p>
            <a:r>
              <a:rPr lang="fr-FR" dirty="0"/>
              <a:t>  obtiendrait 99,8% d'</a:t>
            </a:r>
            <a:r>
              <a:rPr lang="fr-FR" dirty="0" err="1"/>
              <a:t>accuracy</a:t>
            </a:r>
            <a:r>
              <a:rPr lang="fr-FR" dirty="0"/>
              <a:t>, tout en laissant passer 100% des fraudes.</a:t>
            </a:r>
          </a:p>
          <a:p>
            <a:r>
              <a:rPr lang="fr-FR" dirty="0"/>
              <a:t>  • Le F1-Score est trop équilibré : Le score F1 donne le même poids à la Précision (éviter les faux positifs) et au Rappel (éviter les faux négatifs). Or, dans la vraie vie, laisser</a:t>
            </a:r>
          </a:p>
          <a:p>
            <a:r>
              <a:rPr lang="fr-FR" dirty="0"/>
              <a:t>  passer une fraude de 5 000 € (Faux Négatif) coûte beaucoup plus cher à la banque que d'envoyer un SMS de vérification à un client légitime bloqué à tort (Faux Positif).</a:t>
            </a:r>
          </a:p>
          <a:p>
            <a:r>
              <a:rPr lang="fr-FR" dirty="0"/>
              <a:t>  ──────</a:t>
            </a:r>
          </a:p>
          <a:p>
            <a:r>
              <a:rPr lang="fr-FR" dirty="0"/>
              <a:t>  ### 3. La force du score F2 : Priorité au Rappel (</a:t>
            </a:r>
            <a:r>
              <a:rPr lang="fr-FR" dirty="0" err="1"/>
              <a:t>Recall</a:t>
            </a:r>
            <a:r>
              <a:rPr lang="fr-FR" dirty="0"/>
              <a:t>)</a:t>
            </a:r>
          </a:p>
          <a:p>
            <a:endParaRPr lang="fr-FR" dirty="0"/>
          </a:p>
          <a:p>
            <a:r>
              <a:rPr lang="fr-FR" dirty="0"/>
              <a:t>  La formule du score Fᵦ permet de régler l'importance relative du Rappel par rapport à la Précision grâce au paramètre β.</a:t>
            </a:r>
          </a:p>
          <a:p>
            <a:endParaRPr lang="fr-FR" dirty="0"/>
          </a:p>
          <a:p>
            <a:r>
              <a:rPr lang="fr-FR" dirty="0"/>
              <a:t>  • Avec β = 2 (F2-score), vous attribuez deux fois plus d'importance au Rappel (</a:t>
            </a:r>
            <a:r>
              <a:rPr lang="fr-FR" dirty="0" err="1"/>
              <a:t>Recall</a:t>
            </a:r>
            <a:r>
              <a:rPr lang="fr-FR" dirty="0"/>
              <a:t>) qu'à la Précision.</a:t>
            </a:r>
          </a:p>
          <a:p>
            <a:endParaRPr lang="fr-FR" dirty="0"/>
          </a:p>
          <a:p>
            <a:r>
              <a:rPr lang="fr-FR" dirty="0"/>
              <a:t>               Précision × Rappel</a:t>
            </a:r>
          </a:p>
          <a:p>
            <a:r>
              <a:rPr lang="fr-FR" dirty="0"/>
              <a:t>    F2 = 5 × ──────────────────────</a:t>
            </a:r>
          </a:p>
          <a:p>
            <a:r>
              <a:rPr lang="fr-FR" dirty="0"/>
              <a:t>             4 × Précision + Rappel </a:t>
            </a:r>
          </a:p>
          <a:p>
            <a:r>
              <a:rPr lang="fr-FR" dirty="0"/>
              <a:t>1. Maximiser la capture des fraudes (Rappel) : On préfère capturer le maximum de transactions suspectes, quitte à accepter un taux de fausses alertes légèrement plus élevé.</a:t>
            </a:r>
          </a:p>
          <a:p>
            <a:r>
              <a:rPr lang="fr-FR" dirty="0"/>
              <a:t>  2. Rentabilité financière : Le coût financier direct d'une fraude non détectée (remboursement obligatoire du client, amendes) surpasse largement le coût opérationnel de traitement</a:t>
            </a:r>
          </a:p>
          <a:p>
            <a:r>
              <a:rPr lang="fr-FR" dirty="0"/>
              <a:t>  d'un faux positif (souvent automatisé aujourd'hui par l'envoi d'un SMS ou d'une notification push de validation 3D Secure).</a:t>
            </a:r>
          </a:p>
          <a:p>
            <a:r>
              <a:rPr lang="fr-FR" dirty="0"/>
              <a:t>  3. Expérience client sécurisante : Les utilisateurs tolèrent aujourd'hui très bien une légère friction de sécurité (ex: valider un paiement sur leur application bancaire) s'ils savent</a:t>
            </a:r>
          </a:p>
          <a:p>
            <a:r>
              <a:rPr lang="fr-FR" dirty="0"/>
              <a:t>  que leur compte est activement protégé contre le vol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9C2B8-3DA2-BDEB-2DA0-7B892DCA8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2B6F5-F7A8-2F21-7290-6DCED8DE77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E30A928-9CF2-3C98-1BD3-54D327AAFBD0}"/>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Notre infrastructure est bâtie pour être tolérante aux pannes.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Si un service comme </a:t>
            </a:r>
            <a:r>
              <a:rPr lang="fr-FR" sz="1200" b="0" kern="1200" dirty="0" err="1">
                <a:solidFill>
                  <a:schemeClr val="tx1"/>
                </a:solidFill>
                <a:effectLst/>
                <a:latin typeface="+mn-lt"/>
                <a:ea typeface="+mn-ea"/>
                <a:cs typeface="+mn-cs"/>
              </a:rPr>
              <a:t>Postgres</a:t>
            </a:r>
            <a:r>
              <a:rPr lang="fr-FR" sz="1200" b="0" kern="1200" dirty="0">
                <a:solidFill>
                  <a:schemeClr val="tx1"/>
                </a:solidFill>
                <a:effectLst/>
                <a:latin typeface="+mn-lt"/>
                <a:ea typeface="+mn-ea"/>
                <a:cs typeface="+mn-cs"/>
              </a:rPr>
              <a:t> ou Ray s'arrête, la file d'attente locale conserve les données en toute sécurité.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De plus, notre architecture multi-services conteneurisée sous Docker permet de basculer facilement vers des services cloud hautement disponibles comme </a:t>
            </a:r>
            <a:r>
              <a:rPr lang="fr-FR" sz="1200" b="0" kern="1200" dirty="0" err="1">
                <a:solidFill>
                  <a:schemeClr val="tx1"/>
                </a:solidFill>
                <a:effectLst/>
                <a:latin typeface="+mn-lt"/>
                <a:ea typeface="+mn-ea"/>
                <a:cs typeface="+mn-cs"/>
              </a:rPr>
              <a:t>Kubernetes</a:t>
            </a:r>
            <a:r>
              <a:rPr lang="fr-FR" sz="1200" b="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Le chiffrement HTTPS et l'anonymisation des numéros de cartes de crédit assurent par ailleurs la conformité RGPD.</a:t>
            </a:r>
          </a:p>
          <a:p>
            <a:endParaRPr lang="fr-FR" dirty="0"/>
          </a:p>
          <a:p>
            <a:r>
              <a:rPr lang="fr-FR" dirty="0"/>
              <a:t>  </a:t>
            </a:r>
          </a:p>
          <a:p>
            <a:endParaRPr lang="fr-FR" dirty="0"/>
          </a:p>
          <a:p>
            <a:r>
              <a:rPr lang="fr-FR" dirty="0"/>
              <a:t>### 1. Ingestion continue sans perte de données, même en cas de panne de base de données</a:t>
            </a:r>
          </a:p>
          <a:p>
            <a:endParaRPr lang="fr-FR" dirty="0"/>
          </a:p>
          <a:p>
            <a:r>
              <a:rPr lang="fr-FR" dirty="0"/>
              <a:t>  • Mécanisme de Queue Tampon (Buffer) : Les fichiers CSV bruts arrivent d'abord dans un dossier de transit (./data/queue). Ce dossier agit comme une file d'attente physique (Buffer).</a:t>
            </a:r>
          </a:p>
          <a:p>
            <a:r>
              <a:rPr lang="fr-FR" dirty="0"/>
              <a:t>  • Séparation Ingestion / Enregistrement : L'ingestion physique (le dépôt des fichiers) est indépendante de l'écriture en base de données.</a:t>
            </a:r>
          </a:p>
          <a:p>
            <a:r>
              <a:rPr lang="fr-FR" dirty="0"/>
              <a:t>  • Résilience d'</a:t>
            </a:r>
            <a:r>
              <a:rPr lang="fr-FR" dirty="0" err="1"/>
              <a:t>Airflow</a:t>
            </a:r>
            <a:r>
              <a:rPr lang="fr-FR" dirty="0"/>
              <a:t> (Retries) : Si la base de données PostgreSQL tombe, la tâche dag_pipeline.py:45 échoue, mais les fichiers CSV restent en sécurité dans ./data/queue. Ils ne sont</a:t>
            </a:r>
          </a:p>
          <a:p>
            <a:r>
              <a:rPr lang="fr-FR" dirty="0"/>
              <a:t>  supprimés par dag_pipeline.py:172 qu'une fois que la prédiction a été jouée et enregistrée avec succès. Au redémarrage de la base, </a:t>
            </a:r>
            <a:r>
              <a:rPr lang="fr-FR" dirty="0" err="1"/>
              <a:t>Airflow</a:t>
            </a:r>
            <a:r>
              <a:rPr lang="fr-FR" dirty="0"/>
              <a:t> reprend là où il s'est arrêté (mécanisme de</a:t>
            </a:r>
          </a:p>
          <a:p>
            <a:r>
              <a:rPr lang="fr-FR" dirty="0"/>
              <a:t>  reprise sur panne/retries automatique).</a:t>
            </a:r>
          </a:p>
          <a:p>
            <a:r>
              <a:rPr lang="fr-FR" dirty="0"/>
              <a:t>  ──────</a:t>
            </a:r>
          </a:p>
          <a:p>
            <a:r>
              <a:rPr lang="fr-FR" dirty="0"/>
              <a:t>  ### 2. Absorption fluide des charges transactionnelles de pointe</a:t>
            </a:r>
          </a:p>
          <a:p>
            <a:endParaRPr lang="fr-FR" dirty="0"/>
          </a:p>
          <a:p>
            <a:r>
              <a:rPr lang="fr-FR" dirty="0"/>
              <a:t>  • Calcul Distribué avec Ray : L'inférence lourde n'est pas traitée par le serveur web d'</a:t>
            </a:r>
            <a:r>
              <a:rPr lang="fr-FR" dirty="0" err="1"/>
              <a:t>Airflow</a:t>
            </a:r>
            <a:r>
              <a:rPr lang="fr-FR" dirty="0"/>
              <a:t> (qui saturerait vite), mais déportée sur un cluster Ray capable de paralléliser les</a:t>
            </a:r>
          </a:p>
          <a:p>
            <a:r>
              <a:rPr lang="fr-FR" dirty="0"/>
              <a:t>  calculs.</a:t>
            </a:r>
          </a:p>
          <a:p>
            <a:r>
              <a:rPr lang="fr-FR" dirty="0"/>
              <a:t>  • Traitement par Lots Limités (</a:t>
            </a:r>
            <a:r>
              <a:rPr lang="fr-FR" dirty="0" err="1"/>
              <a:t>Batching</a:t>
            </a:r>
            <a:r>
              <a:rPr lang="fr-FR" dirty="0"/>
              <a:t>) : Le DAG limite le traitement à des paquets de maximum 100 fichiers à la fois (</a:t>
            </a:r>
            <a:r>
              <a:rPr lang="fr-FR" dirty="0" err="1"/>
              <a:t>batch_size</a:t>
            </a:r>
            <a:r>
              <a:rPr lang="fr-FR" dirty="0"/>
              <a:t> = 100 dans dag_pipeline.py:54). Si 10 000 fichiers</a:t>
            </a:r>
          </a:p>
          <a:p>
            <a:r>
              <a:rPr lang="fr-FR" dirty="0"/>
              <a:t>  arrivent d'un coup suite à une pointe, ils ne saturent pas la mémoire : ils sont traités de manière fluide, lot par lot.</a:t>
            </a:r>
          </a:p>
          <a:p>
            <a:r>
              <a:rPr lang="fr-FR" dirty="0"/>
              <a:t>  • GPU NVIDIA : Le Ray Worker dispose d'un GPU (driver: </a:t>
            </a:r>
            <a:r>
              <a:rPr lang="fr-FR" dirty="0" err="1"/>
              <a:t>nvidia</a:t>
            </a:r>
            <a:r>
              <a:rPr lang="fr-FR" dirty="0"/>
              <a:t> dans le docker-compose.yml:189) permettant d'accélérer massivement les prédictions </a:t>
            </a:r>
            <a:r>
              <a:rPr lang="fr-FR" dirty="0" err="1"/>
              <a:t>XGBoost</a:t>
            </a:r>
            <a:r>
              <a:rPr lang="fr-FR" dirty="0"/>
              <a:t> lors des pics de charge.</a:t>
            </a:r>
          </a:p>
          <a:p>
            <a:r>
              <a:rPr lang="fr-FR" dirty="0"/>
              <a:t>  ──────</a:t>
            </a:r>
          </a:p>
          <a:p>
            <a:r>
              <a:rPr lang="fr-FR" dirty="0"/>
              <a:t>  ### 3. Élimination complète des goulets d'étranglement</a:t>
            </a:r>
          </a:p>
          <a:p>
            <a:endParaRPr lang="fr-FR" dirty="0"/>
          </a:p>
          <a:p>
            <a:r>
              <a:rPr lang="fr-FR" dirty="0"/>
              <a:t>  • Découplage Asynchrone : L'orchestrateur (</a:t>
            </a:r>
            <a:r>
              <a:rPr lang="fr-FR" dirty="0" err="1"/>
              <a:t>Airflow</a:t>
            </a:r>
            <a:r>
              <a:rPr lang="fr-FR" dirty="0"/>
              <a:t>) ne fait que coordonner. Il délègue le calcul lourd à Ray Head/Worker via </a:t>
            </a:r>
            <a:r>
              <a:rPr lang="fr-FR" dirty="0" err="1"/>
              <a:t>FastAPI</a:t>
            </a:r>
            <a:r>
              <a:rPr lang="fr-FR" dirty="0"/>
              <a:t> (/</a:t>
            </a:r>
            <a:r>
              <a:rPr lang="fr-FR" dirty="0" err="1"/>
              <a:t>predict_batch</a:t>
            </a:r>
            <a:r>
              <a:rPr lang="fr-FR" dirty="0"/>
              <a:t>), libérant ses propres ressources</a:t>
            </a:r>
          </a:p>
          <a:p>
            <a:r>
              <a:rPr lang="fr-FR" dirty="0"/>
              <a:t>  immédiatement.</a:t>
            </a:r>
          </a:p>
          <a:p>
            <a:r>
              <a:rPr lang="fr-FR" dirty="0"/>
              <a:t>  • Monopole de traitement (Max Active Runs = 1) : Le DAG est configuré avec </a:t>
            </a:r>
            <a:r>
              <a:rPr lang="fr-FR" dirty="0" err="1"/>
              <a:t>max_active_runs</a:t>
            </a:r>
            <a:r>
              <a:rPr lang="fr-FR" dirty="0"/>
              <a:t>=1 (dag_pipeline.py:235). Cela empêche plusieurs instances du pipeline de s'exécuter en</a:t>
            </a:r>
          </a:p>
          <a:p>
            <a:r>
              <a:rPr lang="fr-FR" dirty="0"/>
              <a:t>  parallèle et de créer des conflits d'accès (deadlocks) sur la base de données PostgreSQL ou sur le système de fichiers.</a:t>
            </a:r>
          </a:p>
          <a:p>
            <a:r>
              <a:rPr lang="fr-FR" dirty="0"/>
              <a:t>  • Utilisation de Redis en cache rapide (Online Store) : </a:t>
            </a:r>
            <a:r>
              <a:rPr lang="fr-FR" dirty="0" err="1"/>
              <a:t>Streamlit</a:t>
            </a:r>
            <a:r>
              <a:rPr lang="fr-FR" dirty="0"/>
              <a:t> et l'API ne requêtent pas constamment PostgreSQL pour obtenir les règles de suspicion (SHAP). Elles lisent</a:t>
            </a:r>
          </a:p>
          <a:p>
            <a:r>
              <a:rPr lang="fr-FR" dirty="0"/>
              <a:t>  directement dans Redis (temps de réponse en microsecondes), évitant d'engorger la base de données relationnelle.</a:t>
            </a:r>
            <a:endParaRPr dirty="0"/>
          </a:p>
        </p:txBody>
      </p:sp>
      <p:sp>
        <p:nvSpPr>
          <p:cNvPr id="4" name="Slide Number Placeholder 3">
            <a:extLst>
              <a:ext uri="{FF2B5EF4-FFF2-40B4-BE49-F238E27FC236}">
                <a16:creationId xmlns:a16="http://schemas.microsoft.com/office/drawing/2014/main" id="{324BA956-623D-7231-1F59-B9175A05D2E6}"/>
              </a:ext>
            </a:extLst>
          </p:cNvPr>
          <p:cNvSpPr>
            <a:spLocks noGrp="1"/>
          </p:cNvSpPr>
          <p:nvPr>
            <p:ph type="sldNum" sz="quarter" idx="5"/>
          </p:nvPr>
        </p:nvSpPr>
        <p:spPr/>
      </p:sp>
    </p:spTree>
    <p:extLst>
      <p:ext uri="{BB962C8B-B14F-4D97-AF65-F5344CB8AC3E}">
        <p14:creationId xmlns:p14="http://schemas.microsoft.com/office/powerpoint/2010/main" val="1963766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47B6-40BB-2A57-A91F-3D047A443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7CBD1-7C81-20D9-72D0-5A15E06F207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C233E3D-F6A4-FF30-07A0-A5FB266F146E}"/>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Notre infrastructure est bâtie pour être tolérante aux pannes.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Si un service comme </a:t>
            </a:r>
            <a:r>
              <a:rPr lang="fr-FR" sz="1200" b="0" kern="1200" dirty="0" err="1">
                <a:solidFill>
                  <a:schemeClr val="tx1"/>
                </a:solidFill>
                <a:effectLst/>
                <a:latin typeface="+mn-lt"/>
                <a:ea typeface="+mn-ea"/>
                <a:cs typeface="+mn-cs"/>
              </a:rPr>
              <a:t>Postgres</a:t>
            </a:r>
            <a:r>
              <a:rPr lang="fr-FR" sz="1200" b="0" kern="1200" dirty="0">
                <a:solidFill>
                  <a:schemeClr val="tx1"/>
                </a:solidFill>
                <a:effectLst/>
                <a:latin typeface="+mn-lt"/>
                <a:ea typeface="+mn-ea"/>
                <a:cs typeface="+mn-cs"/>
              </a:rPr>
              <a:t> ou Ray s'arrête, la file d'attente locale conserve les données en toute sécurité.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De plus, notre architecture multi-services conteneurisée sous Docker permet de basculer facilement vers des services cloud hautement disponibles comme </a:t>
            </a:r>
            <a:r>
              <a:rPr lang="fr-FR" sz="1200" b="0" kern="1200" dirty="0" err="1">
                <a:solidFill>
                  <a:schemeClr val="tx1"/>
                </a:solidFill>
                <a:effectLst/>
                <a:latin typeface="+mn-lt"/>
                <a:ea typeface="+mn-ea"/>
                <a:cs typeface="+mn-cs"/>
              </a:rPr>
              <a:t>Kubernetes</a:t>
            </a:r>
            <a:r>
              <a:rPr lang="fr-FR" sz="1200" b="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Le chiffrement HTTPS et l'anonymisation des numéros de cartes de crédit assurent par ailleurs la conformité RGPD.</a:t>
            </a:r>
          </a:p>
          <a:p>
            <a:endParaRPr lang="fr-FR" dirty="0"/>
          </a:p>
          <a:p>
            <a:r>
              <a:rPr lang="fr-FR" dirty="0"/>
              <a:t>  </a:t>
            </a:r>
          </a:p>
          <a:p>
            <a:endParaRPr lang="fr-FR" dirty="0"/>
          </a:p>
          <a:p>
            <a:r>
              <a:rPr lang="fr-FR" dirty="0"/>
              <a:t>### 1. Ingestion continue sans perte de données, même en cas de panne de base de données</a:t>
            </a:r>
          </a:p>
          <a:p>
            <a:endParaRPr lang="fr-FR" dirty="0"/>
          </a:p>
          <a:p>
            <a:r>
              <a:rPr lang="fr-FR" dirty="0"/>
              <a:t>  • Mécanisme de Queue Tampon (Buffer) : Les fichiers CSV bruts arrivent d'abord dans un dossier de transit (./data/queue). Ce dossier agit comme une file d'attente physique (Buffer).</a:t>
            </a:r>
          </a:p>
          <a:p>
            <a:r>
              <a:rPr lang="fr-FR" dirty="0"/>
              <a:t>  • Séparation Ingestion / Enregistrement : L'ingestion physique (le dépôt des fichiers) est indépendante de l'écriture en base de données.</a:t>
            </a:r>
          </a:p>
          <a:p>
            <a:r>
              <a:rPr lang="fr-FR" dirty="0"/>
              <a:t>  • Résilience d'</a:t>
            </a:r>
            <a:r>
              <a:rPr lang="fr-FR" dirty="0" err="1"/>
              <a:t>Airflow</a:t>
            </a:r>
            <a:r>
              <a:rPr lang="fr-FR" dirty="0"/>
              <a:t> (Retries) : Si la base de données PostgreSQL tombe, la tâche dag_pipeline.py:45 échoue, mais les fichiers CSV restent en sécurité dans ./data/queue. Ils ne sont</a:t>
            </a:r>
          </a:p>
          <a:p>
            <a:r>
              <a:rPr lang="fr-FR" dirty="0"/>
              <a:t>  supprimés par dag_pipeline.py:172 qu'une fois que la prédiction a été jouée et enregistrée avec succès. Au redémarrage de la base, </a:t>
            </a:r>
            <a:r>
              <a:rPr lang="fr-FR" dirty="0" err="1"/>
              <a:t>Airflow</a:t>
            </a:r>
            <a:r>
              <a:rPr lang="fr-FR" dirty="0"/>
              <a:t> reprend là où il s'est arrêté (mécanisme de</a:t>
            </a:r>
          </a:p>
          <a:p>
            <a:r>
              <a:rPr lang="fr-FR" dirty="0"/>
              <a:t>  reprise sur panne/retries automatique).</a:t>
            </a:r>
          </a:p>
          <a:p>
            <a:r>
              <a:rPr lang="fr-FR" dirty="0"/>
              <a:t>  ──────</a:t>
            </a:r>
          </a:p>
          <a:p>
            <a:r>
              <a:rPr lang="fr-FR" dirty="0"/>
              <a:t>  ### 2. Absorption fluide des charges transactionnelles de pointe</a:t>
            </a:r>
          </a:p>
          <a:p>
            <a:endParaRPr lang="fr-FR" dirty="0"/>
          </a:p>
          <a:p>
            <a:r>
              <a:rPr lang="fr-FR" dirty="0"/>
              <a:t>  • Calcul Distribué avec Ray : L'inférence lourde n'est pas traitée par le serveur web d'</a:t>
            </a:r>
            <a:r>
              <a:rPr lang="fr-FR" dirty="0" err="1"/>
              <a:t>Airflow</a:t>
            </a:r>
            <a:r>
              <a:rPr lang="fr-FR" dirty="0"/>
              <a:t> (qui saturerait vite), mais déportée sur un cluster Ray capable de paralléliser les</a:t>
            </a:r>
          </a:p>
          <a:p>
            <a:r>
              <a:rPr lang="fr-FR" dirty="0"/>
              <a:t>  calculs.</a:t>
            </a:r>
          </a:p>
          <a:p>
            <a:r>
              <a:rPr lang="fr-FR" dirty="0"/>
              <a:t>  • Traitement par Lots Limités (</a:t>
            </a:r>
            <a:r>
              <a:rPr lang="fr-FR" dirty="0" err="1"/>
              <a:t>Batching</a:t>
            </a:r>
            <a:r>
              <a:rPr lang="fr-FR" dirty="0"/>
              <a:t>) : Le DAG limite le traitement à des paquets de maximum 100 fichiers à la fois (</a:t>
            </a:r>
            <a:r>
              <a:rPr lang="fr-FR" dirty="0" err="1"/>
              <a:t>batch_size</a:t>
            </a:r>
            <a:r>
              <a:rPr lang="fr-FR" dirty="0"/>
              <a:t> = 100 dans dag_pipeline.py:54). Si 10 000 fichiers</a:t>
            </a:r>
          </a:p>
          <a:p>
            <a:r>
              <a:rPr lang="fr-FR" dirty="0"/>
              <a:t>  arrivent d'un coup suite à une pointe, ils ne saturent pas la mémoire : ils sont traités de manière fluide, lot par lot.</a:t>
            </a:r>
          </a:p>
          <a:p>
            <a:r>
              <a:rPr lang="fr-FR" dirty="0"/>
              <a:t>  • GPU NVIDIA : Le Ray Worker dispose d'un GPU (driver: </a:t>
            </a:r>
            <a:r>
              <a:rPr lang="fr-FR" dirty="0" err="1"/>
              <a:t>nvidia</a:t>
            </a:r>
            <a:r>
              <a:rPr lang="fr-FR" dirty="0"/>
              <a:t> dans le docker-compose.yml:189) permettant d'accélérer massivement les prédictions </a:t>
            </a:r>
            <a:r>
              <a:rPr lang="fr-FR" dirty="0" err="1"/>
              <a:t>XGBoost</a:t>
            </a:r>
            <a:r>
              <a:rPr lang="fr-FR" dirty="0"/>
              <a:t> lors des pics de charge.</a:t>
            </a:r>
          </a:p>
          <a:p>
            <a:r>
              <a:rPr lang="fr-FR" dirty="0"/>
              <a:t>  ──────</a:t>
            </a:r>
          </a:p>
          <a:p>
            <a:r>
              <a:rPr lang="fr-FR" dirty="0"/>
              <a:t>  ### 3. Élimination complète des goulets d'étranglement</a:t>
            </a:r>
          </a:p>
          <a:p>
            <a:endParaRPr lang="fr-FR" dirty="0"/>
          </a:p>
          <a:p>
            <a:r>
              <a:rPr lang="fr-FR" dirty="0"/>
              <a:t>  • Découplage Asynchrone : L'orchestrateur (</a:t>
            </a:r>
            <a:r>
              <a:rPr lang="fr-FR" dirty="0" err="1"/>
              <a:t>Airflow</a:t>
            </a:r>
            <a:r>
              <a:rPr lang="fr-FR" dirty="0"/>
              <a:t>) ne fait que coordonner. Il délègue le calcul lourd à Ray Head/Worker via </a:t>
            </a:r>
            <a:r>
              <a:rPr lang="fr-FR" dirty="0" err="1"/>
              <a:t>FastAPI</a:t>
            </a:r>
            <a:r>
              <a:rPr lang="fr-FR" dirty="0"/>
              <a:t> (/</a:t>
            </a:r>
            <a:r>
              <a:rPr lang="fr-FR" dirty="0" err="1"/>
              <a:t>predict_batch</a:t>
            </a:r>
            <a:r>
              <a:rPr lang="fr-FR" dirty="0"/>
              <a:t>), libérant ses propres ressources</a:t>
            </a:r>
          </a:p>
          <a:p>
            <a:r>
              <a:rPr lang="fr-FR" dirty="0"/>
              <a:t>  immédiatement.</a:t>
            </a:r>
          </a:p>
          <a:p>
            <a:r>
              <a:rPr lang="fr-FR" dirty="0"/>
              <a:t>  • Monopole de traitement (Max Active Runs = 1) : Le DAG est configuré avec </a:t>
            </a:r>
            <a:r>
              <a:rPr lang="fr-FR" dirty="0" err="1"/>
              <a:t>max_active_runs</a:t>
            </a:r>
            <a:r>
              <a:rPr lang="fr-FR" dirty="0"/>
              <a:t>=1 (dag_pipeline.py:235). Cela empêche plusieurs instances du pipeline de s'exécuter en</a:t>
            </a:r>
          </a:p>
          <a:p>
            <a:r>
              <a:rPr lang="fr-FR" dirty="0"/>
              <a:t>  parallèle et de créer des conflits d'accès (deadlocks) sur la base de données PostgreSQL ou sur le système de fichiers.</a:t>
            </a:r>
          </a:p>
          <a:p>
            <a:r>
              <a:rPr lang="fr-FR" dirty="0"/>
              <a:t>  • Utilisation de Redis en cache rapide (Online Store) : </a:t>
            </a:r>
            <a:r>
              <a:rPr lang="fr-FR" dirty="0" err="1"/>
              <a:t>Streamlit</a:t>
            </a:r>
            <a:r>
              <a:rPr lang="fr-FR" dirty="0"/>
              <a:t> et l'API ne requêtent pas constamment PostgreSQL pour obtenir les règles de suspicion (SHAP). Elles lisent</a:t>
            </a:r>
          </a:p>
          <a:p>
            <a:r>
              <a:rPr lang="fr-FR" dirty="0"/>
              <a:t>  directement dans Redis (temps de réponse en microsecondes), évitant d'engorger la base de données relationnelle.</a:t>
            </a:r>
            <a:endParaRPr dirty="0"/>
          </a:p>
        </p:txBody>
      </p:sp>
      <p:sp>
        <p:nvSpPr>
          <p:cNvPr id="4" name="Slide Number Placeholder 3">
            <a:extLst>
              <a:ext uri="{FF2B5EF4-FFF2-40B4-BE49-F238E27FC236}">
                <a16:creationId xmlns:a16="http://schemas.microsoft.com/office/drawing/2014/main" id="{C3FB8016-F3D0-C2E9-664F-ACAF1D20A16A}"/>
              </a:ext>
            </a:extLst>
          </p:cNvPr>
          <p:cNvSpPr>
            <a:spLocks noGrp="1"/>
          </p:cNvSpPr>
          <p:nvPr>
            <p:ph type="sldNum" sz="quarter" idx="5"/>
          </p:nvPr>
        </p:nvSpPr>
        <p:spPr/>
      </p:sp>
    </p:spTree>
    <p:extLst>
      <p:ext uri="{BB962C8B-B14F-4D97-AF65-F5344CB8AC3E}">
        <p14:creationId xmlns:p14="http://schemas.microsoft.com/office/powerpoint/2010/main" val="1194679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74203-273A-E073-E960-A9FC0B486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6EA60-FF27-4F6E-4DEA-A7A8913CD85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58A4D2F-3122-A73A-7AA6-837D27C2911A}"/>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Le cycle de développement suit les principes modernes du DevOps et du </a:t>
            </a:r>
            <a:r>
              <a:rPr lang="fr-FR" sz="1200" b="0" kern="1200" dirty="0" err="1">
                <a:solidFill>
                  <a:schemeClr val="tx1"/>
                </a:solidFill>
                <a:effectLst/>
                <a:latin typeface="+mn-lt"/>
                <a:ea typeface="+mn-ea"/>
                <a:cs typeface="+mn-cs"/>
              </a:rPr>
              <a:t>MLOps</a:t>
            </a:r>
            <a:r>
              <a:rPr lang="fr-FR" sz="1200" b="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La CI valide la syntaxe avec Ruff et exécute les tests unitaires avec </a:t>
            </a:r>
            <a:r>
              <a:rPr lang="fr-FR" sz="1200" b="0" kern="1200" dirty="0" err="1">
                <a:solidFill>
                  <a:schemeClr val="tx1"/>
                </a:solidFill>
                <a:effectLst/>
                <a:latin typeface="+mn-lt"/>
                <a:ea typeface="+mn-ea"/>
                <a:cs typeface="+mn-cs"/>
              </a:rPr>
              <a:t>Pytest</a:t>
            </a:r>
            <a:r>
              <a:rPr lang="fr-FR" sz="1200" b="0" kern="1200" dirty="0">
                <a:solidFill>
                  <a:schemeClr val="tx1"/>
                </a:solidFill>
                <a:effectLst/>
                <a:latin typeface="+mn-lt"/>
                <a:ea typeface="+mn-ea"/>
                <a:cs typeface="+mn-cs"/>
              </a:rPr>
              <a:t> à chaque mise à jour.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 La CD assure la portabilité via Docker. Enfin, nous introduisons le CT — le </a:t>
            </a:r>
            <a:r>
              <a:rPr lang="fr-FR" sz="1200" b="0" kern="1200" dirty="0" err="1">
                <a:solidFill>
                  <a:schemeClr val="tx1"/>
                </a:solidFill>
                <a:effectLst/>
                <a:latin typeface="+mn-lt"/>
                <a:ea typeface="+mn-ea"/>
                <a:cs typeface="+mn-cs"/>
              </a:rPr>
              <a:t>Continuous</a:t>
            </a:r>
            <a:r>
              <a:rPr lang="fr-FR" sz="1200" b="0" kern="1200" dirty="0">
                <a:solidFill>
                  <a:schemeClr val="tx1"/>
                </a:solidFill>
                <a:effectLst/>
                <a:latin typeface="+mn-lt"/>
                <a:ea typeface="+mn-ea"/>
                <a:cs typeface="+mn-cs"/>
              </a:rPr>
              <a:t> Training : le système monitore en permanence les données et s'auto-corrige en déclenchant un réentraînement s'il détecte une dérive du modèle.</a:t>
            </a:r>
          </a:p>
          <a:p>
            <a:r>
              <a:rPr lang="fr-FR" dirty="0"/>
              <a:t> • Sur la CI (Qualité et Robustesse) :</a:t>
            </a:r>
          </a:p>
          <a:p>
            <a:r>
              <a:rPr lang="fr-FR" dirty="0"/>
              <a:t>  │ "Pour la partie Intégration Continue, nous avons mis en place des tests automatisés avec </a:t>
            </a:r>
            <a:r>
              <a:rPr lang="fr-FR" dirty="0" err="1"/>
              <a:t>pytest</a:t>
            </a:r>
            <a:r>
              <a:rPr lang="fr-FR" dirty="0"/>
              <a:t> et un contrôle de style strict avec </a:t>
            </a:r>
            <a:r>
              <a:rPr lang="fr-FR" dirty="0" err="1"/>
              <a:t>ruff</a:t>
            </a:r>
            <a:r>
              <a:rPr lang="fr-FR" dirty="0"/>
              <a:t>. Cela garantit que chaque modification de</a:t>
            </a:r>
          </a:p>
          <a:p>
            <a:r>
              <a:rPr lang="fr-FR" dirty="0"/>
              <a:t>  │ code (par exemple un nouveau calcul de </a:t>
            </a:r>
            <a:r>
              <a:rPr lang="fr-FR" dirty="0" err="1"/>
              <a:t>feature</a:t>
            </a:r>
            <a:r>
              <a:rPr lang="fr-FR" dirty="0"/>
              <a:t> pour détecter la fraude) ne casse pas le comportement existant du pipeline et respecte les standards de qualité de production."</a:t>
            </a:r>
          </a:p>
          <a:p>
            <a:endParaRPr lang="fr-FR" dirty="0"/>
          </a:p>
          <a:p>
            <a:r>
              <a:rPr lang="fr-FR" dirty="0"/>
              <a:t>  • Sur la CD (Déploiement Reproductible) :</a:t>
            </a:r>
          </a:p>
          <a:p>
            <a:r>
              <a:rPr lang="fr-FR" dirty="0"/>
              <a:t>  │ "Le déploiement s'appuie entièrement sur Docker. L'utilisation d'images Docker dédiées pour Ray, </a:t>
            </a:r>
            <a:r>
              <a:rPr lang="fr-FR" dirty="0" err="1"/>
              <a:t>Airflow</a:t>
            </a:r>
            <a:r>
              <a:rPr lang="fr-FR" dirty="0"/>
              <a:t> et </a:t>
            </a:r>
            <a:r>
              <a:rPr lang="fr-FR" dirty="0" err="1"/>
              <a:t>Streamlit</a:t>
            </a:r>
            <a:r>
              <a:rPr lang="fr-FR" dirty="0"/>
              <a:t> garantit qu'il n'y a aucun effet de bord lié à l'environnement</a:t>
            </a:r>
          </a:p>
          <a:p>
            <a:r>
              <a:rPr lang="fr-FR" dirty="0"/>
              <a:t>  │ d'exécution ('</a:t>
            </a:r>
            <a:r>
              <a:rPr lang="fr-FR" dirty="0" err="1"/>
              <a:t>it</a:t>
            </a:r>
            <a:r>
              <a:rPr lang="fr-FR" dirty="0"/>
              <a:t> </a:t>
            </a:r>
            <a:r>
              <a:rPr lang="fr-FR" dirty="0" err="1"/>
              <a:t>works</a:t>
            </a:r>
            <a:r>
              <a:rPr lang="fr-FR" dirty="0"/>
              <a:t> on </a:t>
            </a:r>
            <a:r>
              <a:rPr lang="fr-FR" dirty="0" err="1"/>
              <a:t>my</a:t>
            </a:r>
            <a:r>
              <a:rPr lang="fr-FR" dirty="0"/>
              <a:t> machine'). Passer du développement à la production se résume à déployer les mêmes conteneurs sur des serveurs cloud."</a:t>
            </a:r>
          </a:p>
          <a:p>
            <a:endParaRPr lang="fr-FR" dirty="0"/>
          </a:p>
          <a:p>
            <a:r>
              <a:rPr lang="fr-FR" dirty="0"/>
              <a:t>  • La transition vers le CT (</a:t>
            </a:r>
            <a:r>
              <a:rPr lang="fr-FR" dirty="0" err="1"/>
              <a:t>Continuous</a:t>
            </a:r>
            <a:r>
              <a:rPr lang="fr-FR" dirty="0"/>
              <a:t> Training) :</a:t>
            </a:r>
          </a:p>
          <a:p>
            <a:r>
              <a:rPr lang="fr-FR" dirty="0"/>
              <a:t>  │ "En </a:t>
            </a:r>
            <a:r>
              <a:rPr lang="fr-FR" dirty="0" err="1"/>
              <a:t>MLOps</a:t>
            </a:r>
            <a:r>
              <a:rPr lang="fr-FR" dirty="0"/>
              <a:t>, la CD ne s'arrête pas au déploiement du code, elle s'étend au déploiement du modèle. C'est le rôle de notre pipeline d'entraînement continu (CT) : dès que le monitoring</a:t>
            </a:r>
          </a:p>
          <a:p>
            <a:r>
              <a:rPr lang="fr-FR" dirty="0"/>
              <a:t>  │ (</a:t>
            </a:r>
            <a:r>
              <a:rPr lang="fr-FR" dirty="0" err="1"/>
              <a:t>Evidently</a:t>
            </a:r>
            <a:r>
              <a:rPr lang="fr-FR" dirty="0"/>
              <a:t>) détecte une baisse de performance ou un drift, un nouveau modèle est automatiquement entraîné, packagé par </a:t>
            </a:r>
            <a:r>
              <a:rPr lang="fr-FR" dirty="0" err="1"/>
              <a:t>MLflow</a:t>
            </a:r>
            <a:r>
              <a:rPr lang="fr-FR" dirty="0"/>
              <a:t>, et mis à disposition de l'API de prédiction sans</a:t>
            </a:r>
          </a:p>
          <a:p>
            <a:r>
              <a:rPr lang="fr-FR" dirty="0"/>
              <a:t>  │ interruption de service.« </a:t>
            </a:r>
          </a:p>
          <a:p>
            <a:endParaRPr lang="fr-FR" dirty="0"/>
          </a:p>
          <a:p>
            <a:endParaRPr lang="fr-FR" dirty="0"/>
          </a:p>
          <a:p>
            <a:endParaRPr lang="fr-FR" dirty="0"/>
          </a:p>
          <a:p>
            <a:r>
              <a:rPr lang="fr-FR" dirty="0"/>
              <a:t>• Le fichier .</a:t>
            </a:r>
            <a:r>
              <a:rPr lang="fr-FR" dirty="0" err="1"/>
              <a:t>ruff.toml</a:t>
            </a:r>
            <a:r>
              <a:rPr lang="fr-FR" dirty="0"/>
              <a:t> configure les règles d'analyse statique du code.</a:t>
            </a:r>
          </a:p>
          <a:p>
            <a:r>
              <a:rPr lang="fr-FR" dirty="0"/>
              <a:t>  • Les fichiers </a:t>
            </a:r>
            <a:r>
              <a:rPr lang="fr-FR" dirty="0" err="1"/>
              <a:t>Dockerfile</a:t>
            </a:r>
            <a:r>
              <a:rPr lang="fr-FR" dirty="0"/>
              <a:t> dans le dossier docker et le docker-</a:t>
            </a:r>
            <a:r>
              <a:rPr lang="fr-FR" dirty="0" err="1"/>
              <a:t>compose.yml</a:t>
            </a:r>
            <a:r>
              <a:rPr lang="fr-FR" dirty="0"/>
              <a:t> orchestrent le déploiement multi-services.*</a:t>
            </a:r>
            <a:endParaRPr dirty="0"/>
          </a:p>
        </p:txBody>
      </p:sp>
      <p:sp>
        <p:nvSpPr>
          <p:cNvPr id="4" name="Slide Number Placeholder 3">
            <a:extLst>
              <a:ext uri="{FF2B5EF4-FFF2-40B4-BE49-F238E27FC236}">
                <a16:creationId xmlns:a16="http://schemas.microsoft.com/office/drawing/2014/main" id="{B8E8616A-1C3F-216E-714D-D3A183FC9F81}"/>
              </a:ext>
            </a:extLst>
          </p:cNvPr>
          <p:cNvSpPr>
            <a:spLocks noGrp="1"/>
          </p:cNvSpPr>
          <p:nvPr>
            <p:ph type="sldNum" sz="quarter" idx="5"/>
          </p:nvPr>
        </p:nvSpPr>
        <p:spPr/>
      </p:sp>
    </p:spTree>
    <p:extLst>
      <p:ext uri="{BB962C8B-B14F-4D97-AF65-F5344CB8AC3E}">
        <p14:creationId xmlns:p14="http://schemas.microsoft.com/office/powerpoint/2010/main" val="31383105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06A1C-50CB-AAC5-DDEB-4DDCBF620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8ED06-279D-8AAD-C16F-44CF4D2A07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1609E3B-B372-81C0-DF3B-80048D260A16}"/>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Pour clore cette présentation, voici les différents points d'entrée de notre écosystème de démonstration local : l'API </a:t>
            </a:r>
            <a:r>
              <a:rPr lang="fr-FR" sz="1200" b="0" kern="1200" dirty="0" err="1">
                <a:solidFill>
                  <a:schemeClr val="tx1"/>
                </a:solidFill>
                <a:effectLst/>
                <a:latin typeface="+mn-lt"/>
                <a:ea typeface="+mn-ea"/>
                <a:cs typeface="+mn-cs"/>
              </a:rPr>
              <a:t>FastAPI</a:t>
            </a:r>
            <a:r>
              <a:rPr lang="fr-FR" sz="1200" b="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'interface graphique utilisateur </a:t>
            </a:r>
            <a:r>
              <a:rPr lang="fr-FR" sz="1200" b="0" kern="1200" dirty="0" err="1">
                <a:solidFill>
                  <a:schemeClr val="tx1"/>
                </a:solidFill>
                <a:effectLst/>
                <a:latin typeface="+mn-lt"/>
                <a:ea typeface="+mn-ea"/>
                <a:cs typeface="+mn-cs"/>
              </a:rPr>
              <a:t>Streamlit</a:t>
            </a:r>
            <a:r>
              <a:rPr lang="fr-FR" sz="1200" b="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notre orchestrateur </a:t>
            </a:r>
            <a:r>
              <a:rPr lang="fr-FR" sz="1200" b="0" kern="1200" dirty="0" err="1">
                <a:solidFill>
                  <a:schemeClr val="tx1"/>
                </a:solidFill>
                <a:effectLst/>
                <a:latin typeface="+mn-lt"/>
                <a:ea typeface="+mn-ea"/>
                <a:cs typeface="+mn-cs"/>
              </a:rPr>
              <a:t>Airflow</a:t>
            </a:r>
            <a:r>
              <a:rPr lang="fr-FR" sz="1200" b="0" kern="1200" dirty="0">
                <a:solidFill>
                  <a:schemeClr val="tx1"/>
                </a:solidFill>
                <a:effectLst/>
                <a:latin typeface="+mn-lt"/>
                <a:ea typeface="+mn-ea"/>
                <a:cs typeface="+mn-cs"/>
              </a:rPr>
              <a:t> et le serveur de </a:t>
            </a:r>
            <a:r>
              <a:rPr lang="fr-FR" sz="1200" b="0" kern="1200" dirty="0" err="1">
                <a:solidFill>
                  <a:schemeClr val="tx1"/>
                </a:solidFill>
                <a:effectLst/>
                <a:latin typeface="+mn-lt"/>
                <a:ea typeface="+mn-ea"/>
                <a:cs typeface="+mn-cs"/>
              </a:rPr>
              <a:t>tracking</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MLflow</a:t>
            </a:r>
            <a:r>
              <a:rPr lang="fr-FR" sz="1200" b="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Je suis à présent disponible pour répondre à vos questions et lancer la démonstration.</a:t>
            </a:r>
          </a:p>
          <a:p>
            <a:endParaRPr dirty="0"/>
          </a:p>
        </p:txBody>
      </p:sp>
      <p:sp>
        <p:nvSpPr>
          <p:cNvPr id="4" name="Slide Number Placeholder 3">
            <a:extLst>
              <a:ext uri="{FF2B5EF4-FFF2-40B4-BE49-F238E27FC236}">
                <a16:creationId xmlns:a16="http://schemas.microsoft.com/office/drawing/2014/main" id="{14FAF05A-03BC-E311-D0DB-A36F31C875A6}"/>
              </a:ext>
            </a:extLst>
          </p:cNvPr>
          <p:cNvSpPr>
            <a:spLocks noGrp="1"/>
          </p:cNvSpPr>
          <p:nvPr>
            <p:ph type="sldNum" sz="quarter" idx="5"/>
          </p:nvPr>
        </p:nvSpPr>
        <p:spPr/>
      </p:sp>
    </p:spTree>
    <p:extLst>
      <p:ext uri="{BB962C8B-B14F-4D97-AF65-F5344CB8AC3E}">
        <p14:creationId xmlns:p14="http://schemas.microsoft.com/office/powerpoint/2010/main" val="4038060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fraud-detection.ngrok.app/"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drive.google.com/file/d/1w0A6XtAlBXip9RwaOSHs-L9cPTOmzCM_/view?usp=sharing" TargetMode="External"/><Relationship Id="rId5" Type="http://schemas.openxmlformats.org/officeDocument/2006/relationships/hyperlink" Target="http://127.0.0.1:5001/#/" TargetMode="External"/><Relationship Id="rId4" Type="http://schemas.openxmlformats.org/officeDocument/2006/relationships/hyperlink" Target="http://localhost:808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332720" cy="2795637"/>
          </a:xfrm>
          <a:prstGeom prst="rect">
            <a:avLst/>
          </a:prstGeom>
          <a:noFill/>
        </p:spPr>
        <p:txBody>
          <a:bodyPr wrap="square" lIns="0" tIns="0" rIns="0" bIns="0">
            <a:spAutoFit/>
          </a:bodyPr>
          <a:lstStyle/>
          <a:p>
            <a:pPr>
              <a:spcAft>
                <a:spcPts val="800"/>
              </a:spcAft>
              <a:defRPr sz="3800" b="1">
                <a:solidFill>
                  <a:srgbClr val="0F172A"/>
                </a:solidFill>
                <a:latin typeface="Segoe UI"/>
              </a:defRPr>
            </a:pPr>
            <a:r>
              <a:rPr lang="fr-FR" dirty="0"/>
              <a:t>PIPELINES DE DONNEES</a:t>
            </a:r>
          </a:p>
          <a:p>
            <a:pPr>
              <a:spcAft>
                <a:spcPts val="800"/>
              </a:spcAft>
              <a:defRPr sz="3800" b="1">
                <a:solidFill>
                  <a:srgbClr val="0F172A"/>
                </a:solidFill>
                <a:latin typeface="Segoe UI"/>
              </a:defRPr>
            </a:pPr>
            <a:r>
              <a:rPr lang="fr-FR" dirty="0"/>
              <a:t>DETECTION DE FRAUDE</a:t>
            </a:r>
            <a:endParaRPr dirty="0"/>
          </a:p>
          <a:p>
            <a:pPr rtl="0"/>
            <a:r>
              <a:rPr lang="en-US" b="0" i="0" u="none" strike="noStrike" kern="1200" baseline="0" dirty="0" err="1">
                <a:solidFill>
                  <a:srgbClr val="635BFF"/>
                </a:solidFill>
                <a:latin typeface="Segoe UI" panose="020B0502040204020203" pitchFamily="34" charset="0"/>
              </a:rPr>
              <a:t>Écosystème</a:t>
            </a:r>
            <a:r>
              <a:rPr lang="en-US" b="0" i="0" u="none" strike="noStrike" kern="1200" baseline="0" dirty="0">
                <a:solidFill>
                  <a:srgbClr val="635BFF"/>
                </a:solidFill>
                <a:latin typeface="Segoe UI" panose="020B0502040204020203" pitchFamily="34" charset="0"/>
              </a:rPr>
              <a:t> </a:t>
            </a:r>
            <a:r>
              <a:rPr lang="fr-FR" b="0" i="0" u="none" strike="noStrike" kern="1200" baseline="0" dirty="0">
                <a:solidFill>
                  <a:srgbClr val="635BFF"/>
                </a:solidFill>
                <a:latin typeface="Segoe UI" panose="020B0502040204020203" pitchFamily="34" charset="0"/>
              </a:rPr>
              <a:t>h</a:t>
            </a:r>
            <a:r>
              <a:rPr lang="en-US" b="0" i="0" u="none" strike="noStrike" kern="1200" baseline="0" dirty="0" err="1">
                <a:solidFill>
                  <a:srgbClr val="635BFF"/>
                </a:solidFill>
                <a:latin typeface="Segoe UI" panose="020B0502040204020203" pitchFamily="34" charset="0"/>
              </a:rPr>
              <a:t>ybride</a:t>
            </a:r>
            <a:r>
              <a:rPr lang="en-US" b="0" i="0" u="none" strike="noStrike" kern="1200" baseline="0" dirty="0">
                <a:solidFill>
                  <a:srgbClr val="635BFF"/>
                </a:solidFill>
                <a:latin typeface="Segoe UI" panose="020B0502040204020203" pitchFamily="34" charset="0"/>
              </a:rPr>
              <a:t> </a:t>
            </a:r>
            <a:r>
              <a:rPr lang="fr-FR" b="0" i="0" u="none" strike="noStrike" kern="1200" baseline="0" dirty="0">
                <a:solidFill>
                  <a:srgbClr val="635BFF"/>
                </a:solidFill>
                <a:latin typeface="Segoe UI" panose="020B0502040204020203" pitchFamily="34" charset="0"/>
              </a:rPr>
              <a:t>s</a:t>
            </a:r>
            <a:r>
              <a:rPr lang="en-US" b="0" i="0" u="none" strike="noStrike" kern="1200" baseline="0" dirty="0" err="1">
                <a:solidFill>
                  <a:srgbClr val="635BFF"/>
                </a:solidFill>
                <a:latin typeface="Segoe UI" panose="020B0502040204020203" pitchFamily="34" charset="0"/>
              </a:rPr>
              <a:t>ynchrone</a:t>
            </a:r>
            <a:r>
              <a:rPr lang="en-US" b="0" i="0" u="none" strike="noStrike" kern="1200" baseline="0" dirty="0">
                <a:solidFill>
                  <a:srgbClr val="635BFF"/>
                </a:solidFill>
                <a:latin typeface="Segoe UI" panose="020B0502040204020203" pitchFamily="34" charset="0"/>
              </a:rPr>
              <a:t> / </a:t>
            </a:r>
            <a:r>
              <a:rPr lang="fr-FR" b="0" i="0" u="none" strike="noStrike" kern="1200" baseline="0" dirty="0">
                <a:solidFill>
                  <a:srgbClr val="635BFF"/>
                </a:solidFill>
                <a:latin typeface="Segoe UI" panose="020B0502040204020203" pitchFamily="34" charset="0"/>
              </a:rPr>
              <a:t>a</a:t>
            </a:r>
            <a:r>
              <a:rPr lang="en-US" b="0" i="0" u="none" strike="noStrike" kern="1200" baseline="0" dirty="0" err="1">
                <a:solidFill>
                  <a:srgbClr val="635BFF"/>
                </a:solidFill>
                <a:latin typeface="Segoe UI" panose="020B0502040204020203" pitchFamily="34" charset="0"/>
              </a:rPr>
              <a:t>synchrone</a:t>
            </a:r>
            <a:r>
              <a:rPr lang="en-US" b="0" i="0" u="none" strike="noStrike" kern="1200" baseline="0" dirty="0">
                <a:solidFill>
                  <a:srgbClr val="635BFF"/>
                </a:solidFill>
                <a:latin typeface="Segoe UI" panose="020B0502040204020203" pitchFamily="34" charset="0"/>
              </a:rPr>
              <a:t> à </a:t>
            </a:r>
            <a:r>
              <a:rPr lang="fr-FR" b="0" i="0" u="none" strike="noStrike" kern="1200" baseline="0" dirty="0">
                <a:solidFill>
                  <a:srgbClr val="635BFF"/>
                </a:solidFill>
                <a:latin typeface="Segoe UI" panose="020B0502040204020203" pitchFamily="34" charset="0"/>
              </a:rPr>
              <a:t>h</a:t>
            </a:r>
            <a:r>
              <a:rPr lang="en-US" b="0" i="0" u="none" strike="noStrike" kern="1200" baseline="0" dirty="0" err="1">
                <a:solidFill>
                  <a:srgbClr val="635BFF"/>
                </a:solidFill>
                <a:latin typeface="Segoe UI" panose="020B0502040204020203" pitchFamily="34" charset="0"/>
              </a:rPr>
              <a:t>aute</a:t>
            </a:r>
            <a:r>
              <a:rPr lang="en-US" b="0" i="0" u="none" strike="noStrike" kern="1200" baseline="0" dirty="0">
                <a:solidFill>
                  <a:srgbClr val="635BFF"/>
                </a:solidFill>
                <a:latin typeface="Segoe UI" panose="020B0502040204020203" pitchFamily="34" charset="0"/>
              </a:rPr>
              <a:t> </a:t>
            </a:r>
            <a:r>
              <a:rPr lang="fr-FR" b="0" i="0" u="none" strike="noStrike" kern="1200" baseline="0" dirty="0">
                <a:solidFill>
                  <a:srgbClr val="635BFF"/>
                </a:solidFill>
                <a:latin typeface="Segoe UI" panose="020B0502040204020203" pitchFamily="34" charset="0"/>
              </a:rPr>
              <a:t>p</a:t>
            </a:r>
            <a:r>
              <a:rPr lang="en-US" b="0" i="0" u="none" strike="noStrike" kern="1200" baseline="0" dirty="0" err="1">
                <a:solidFill>
                  <a:srgbClr val="635BFF"/>
                </a:solidFill>
                <a:latin typeface="Segoe UI" panose="020B0502040204020203" pitchFamily="34" charset="0"/>
              </a:rPr>
              <a:t>erformance</a:t>
            </a:r>
            <a:endParaRPr lang="en-US" b="0" i="0" u="none" strike="noStrike" kern="1200" baseline="0" dirty="0">
              <a:solidFill>
                <a:srgbClr val="635BFF"/>
              </a:solidFill>
              <a:latin typeface="Segoe UI" panose="020B0502040204020203" pitchFamily="34" charset="0"/>
            </a:endParaRPr>
          </a:p>
          <a:p>
            <a:pPr rtl="0"/>
            <a:endParaRPr lang="en-US" dirty="0">
              <a:solidFill>
                <a:srgbClr val="635BFF"/>
              </a:solidFill>
              <a:latin typeface="Segoe UI" panose="020B0502040204020203" pitchFamily="34" charset="0"/>
            </a:endParaRPr>
          </a:p>
          <a:p>
            <a:pPr rtl="0"/>
            <a:endParaRPr lang="en-US" b="0" i="0" u="none" strike="noStrike" kern="1200" baseline="0" dirty="0">
              <a:solidFill>
                <a:srgbClr val="635BFF"/>
              </a:solidFill>
              <a:latin typeface="Segoe UI" panose="020B0502040204020203" pitchFamily="34" charset="0"/>
            </a:endParaRPr>
          </a:p>
          <a:p>
            <a:pPr>
              <a:spcAft>
                <a:spcPts val="400"/>
              </a:spcAft>
              <a:defRPr sz="1300" b="1">
                <a:solidFill>
                  <a:srgbClr val="475569"/>
                </a:solidFill>
                <a:latin typeface="Segoe UI"/>
              </a:defRPr>
            </a:pPr>
            <a:r>
              <a:rPr lang="fr-FR" dirty="0"/>
              <a:t>Soutenance de certification professionnelle IA - RNCP 38777 (Bloc 3 )</a:t>
            </a:r>
          </a:p>
          <a:p>
            <a:pPr>
              <a:defRPr sz="1100">
                <a:solidFill>
                  <a:srgbClr val="64748B"/>
                </a:solidFill>
                <a:latin typeface="Segoe UI"/>
              </a:defRPr>
            </a:pPr>
            <a:r>
              <a:rPr lang="fr-FR" dirty="0"/>
              <a:t>Candidat : Caroline Heymes |  13 Août 2026</a:t>
            </a:r>
            <a:endParaRPr dirty="0"/>
          </a:p>
          <a:p>
            <a:pPr>
              <a:defRPr sz="1100">
                <a:solidFill>
                  <a:srgbClr val="64748B"/>
                </a:solidFill>
                <a:latin typeface="Segoe UI"/>
              </a:defRP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BD9F7-59DB-AA9E-559E-450F06F4BF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A25B514-1F1A-D325-826F-EDBEA14F2F91}"/>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
            <a:extLst>
              <a:ext uri="{FF2B5EF4-FFF2-40B4-BE49-F238E27FC236}">
                <a16:creationId xmlns:a16="http://schemas.microsoft.com/office/drawing/2014/main" id="{E38B619C-A4A1-49AA-7768-A8B80DE775C9}"/>
              </a:ext>
            </a:extLst>
          </p:cNvPr>
          <p:cNvSpPr txBox="1"/>
          <p:nvPr/>
        </p:nvSpPr>
        <p:spPr>
          <a:xfrm>
            <a:off x="1081668" y="1534408"/>
            <a:ext cx="10332720" cy="1497846"/>
          </a:xfrm>
          <a:prstGeom prst="rect">
            <a:avLst/>
          </a:prstGeom>
          <a:noFill/>
        </p:spPr>
        <p:txBody>
          <a:bodyPr wrap="square" lIns="0" tIns="0" rIns="0" bIns="0">
            <a:spAutoFit/>
          </a:bodyPr>
          <a:lstStyle/>
          <a:p>
            <a:pPr>
              <a:spcAft>
                <a:spcPts val="800"/>
              </a:spcAft>
              <a:defRPr sz="3800" b="1">
                <a:solidFill>
                  <a:srgbClr val="0F172A"/>
                </a:solidFill>
                <a:latin typeface="Segoe UI"/>
              </a:defRPr>
            </a:pPr>
            <a:r>
              <a:rPr lang="fr-FR" sz="2800" dirty="0">
                <a:solidFill>
                  <a:srgbClr val="10B981"/>
                </a:solidFill>
              </a:rPr>
              <a:t>1. Contexte métier &amp; cadrage</a:t>
            </a:r>
          </a:p>
          <a:p>
            <a:pPr>
              <a:spcAft>
                <a:spcPts val="800"/>
              </a:spcAft>
              <a:defRPr sz="3800" b="1">
                <a:solidFill>
                  <a:srgbClr val="0F172A"/>
                </a:solidFill>
                <a:latin typeface="Segoe UI"/>
              </a:defRPr>
            </a:pPr>
            <a:r>
              <a:rPr lang="fr-FR" sz="2800" dirty="0">
                <a:solidFill>
                  <a:srgbClr val="64748B"/>
                </a:solidFill>
              </a:rPr>
              <a:t>2. Architecture</a:t>
            </a:r>
          </a:p>
          <a:p>
            <a:pPr>
              <a:spcAft>
                <a:spcPts val="800"/>
              </a:spcAft>
              <a:defRPr sz="3800" b="1">
                <a:solidFill>
                  <a:srgbClr val="0F172A"/>
                </a:solidFill>
                <a:latin typeface="Segoe UI"/>
              </a:defRPr>
            </a:pPr>
            <a:r>
              <a:rPr lang="fr-FR" sz="2800" dirty="0">
                <a:solidFill>
                  <a:srgbClr val="64748B"/>
                </a:solidFill>
              </a:rPr>
              <a:t>3. Qualité logicielle, CICD &amp; robustesse </a:t>
            </a:r>
          </a:p>
        </p:txBody>
      </p:sp>
    </p:spTree>
    <p:extLst>
      <p:ext uri="{BB962C8B-B14F-4D97-AF65-F5344CB8AC3E}">
        <p14:creationId xmlns:p14="http://schemas.microsoft.com/office/powerpoint/2010/main" val="253780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9A2B9DBA-568B-DA36-986A-8DDE0E542DB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0EEF34-3B00-6442-7ADE-D1C197683575}"/>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D845BFBE-44AD-7DF9-2994-06F111C67847}"/>
              </a:ext>
            </a:extLst>
          </p:cNvPr>
          <p:cNvSpPr txBox="1"/>
          <p:nvPr/>
        </p:nvSpPr>
        <p:spPr>
          <a:xfrm>
            <a:off x="731520" y="594360"/>
            <a:ext cx="10698480" cy="800219"/>
          </a:xfrm>
          <a:prstGeom prst="rect">
            <a:avLst/>
          </a:prstGeom>
          <a:noFill/>
        </p:spPr>
        <p:txBody>
          <a:bodyPr wrap="square" lIns="0" tIns="0" rIns="0" bIns="0">
            <a:spAutoFit/>
          </a:bodyPr>
          <a:lstStyle/>
          <a:p>
            <a:pPr>
              <a:defRPr sz="2600" b="1">
                <a:solidFill>
                  <a:srgbClr val="0F172A"/>
                </a:solidFill>
                <a:latin typeface="Segoe UI"/>
              </a:defRPr>
            </a:pPr>
            <a:r>
              <a:rPr dirty="0"/>
              <a:t>01. CONTEXTE MÉTIER &amp; CADRAGE</a:t>
            </a:r>
            <a:br>
              <a:rPr dirty="0"/>
            </a:br>
            <a:r>
              <a:rPr lang="fr-FR" dirty="0"/>
              <a:t>SLA</a:t>
            </a:r>
            <a:r>
              <a:rPr dirty="0"/>
              <a:t> &amp; </a:t>
            </a:r>
            <a:r>
              <a:rPr lang="fr-FR" dirty="0"/>
              <a:t>c</a:t>
            </a:r>
            <a:r>
              <a:rPr dirty="0" err="1"/>
              <a:t>oûts</a:t>
            </a:r>
            <a:r>
              <a:rPr lang="fr-FR" dirty="0"/>
              <a:t> des paiements frauduleux</a:t>
            </a:r>
            <a:endParaRPr dirty="0"/>
          </a:p>
        </p:txBody>
      </p:sp>
      <p:sp>
        <p:nvSpPr>
          <p:cNvPr id="6" name="Rounded Rectangle 3">
            <a:extLst>
              <a:ext uri="{FF2B5EF4-FFF2-40B4-BE49-F238E27FC236}">
                <a16:creationId xmlns:a16="http://schemas.microsoft.com/office/drawing/2014/main" id="{D047FB45-8F9D-3AF1-0BEB-1E43744D1FB6}"/>
              </a:ext>
            </a:extLst>
          </p:cNvPr>
          <p:cNvSpPr/>
          <p:nvPr/>
        </p:nvSpPr>
        <p:spPr>
          <a:xfrm>
            <a:off x="731520" y="1645920"/>
            <a:ext cx="512064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spcAft>
                <a:spcPts val="1000"/>
              </a:spcAft>
              <a:defRPr sz="1500" b="1">
                <a:solidFill>
                  <a:srgbClr val="0F172A"/>
                </a:solidFill>
                <a:latin typeface="Segoe UI"/>
              </a:defRPr>
            </a:pPr>
            <a:r>
              <a:rPr lang="fr-FR" dirty="0"/>
              <a:t>Latence d'inférence en production : </a:t>
            </a:r>
            <a:br>
              <a:rPr lang="fr-FR" dirty="0"/>
            </a:br>
            <a:r>
              <a:rPr lang="fr-FR" dirty="0"/>
              <a:t>SLA &lt; 100 ms par batch</a:t>
            </a:r>
            <a:endParaRPr dirty="0"/>
          </a:p>
          <a:p>
            <a:pPr>
              <a:spcAft>
                <a:spcPts val="800"/>
              </a:spcAft>
              <a:defRPr sz="1200" b="0">
                <a:solidFill>
                  <a:srgbClr val="475569"/>
                </a:solidFill>
                <a:latin typeface="Segoe UI"/>
              </a:defRPr>
            </a:pPr>
            <a:r>
              <a:rPr lang="fr-FR" dirty="0"/>
              <a:t>• Valeur : blocage automatique des transactions hautement suspectes</a:t>
            </a:r>
          </a:p>
          <a:p>
            <a:pPr>
              <a:spcAft>
                <a:spcPts val="800"/>
              </a:spcAft>
              <a:defRPr sz="1200" b="0">
                <a:solidFill>
                  <a:srgbClr val="475569"/>
                </a:solidFill>
                <a:latin typeface="Segoe UI"/>
              </a:defRPr>
            </a:pPr>
            <a:r>
              <a:rPr lang="fr-FR" dirty="0"/>
              <a:t>• Fiabilité : Ingestion continue sans perte de données, même en cas de panne de base de données.</a:t>
            </a:r>
          </a:p>
          <a:p>
            <a:pPr>
              <a:spcAft>
                <a:spcPts val="800"/>
              </a:spcAft>
              <a:defRPr sz="1200" b="0">
                <a:solidFill>
                  <a:srgbClr val="475569"/>
                </a:solidFill>
                <a:latin typeface="Segoe UI"/>
              </a:defRPr>
            </a:pPr>
            <a:r>
              <a:rPr lang="fr-FR" dirty="0"/>
              <a:t>• Gouvernance </a:t>
            </a:r>
            <a:r>
              <a:rPr lang="fr-FR" dirty="0" err="1"/>
              <a:t>MLOps</a:t>
            </a:r>
            <a:r>
              <a:rPr lang="fr-FR" dirty="0"/>
              <a:t> : Détection de dérive (drift) sous 24h et réentraînement automatisé en boucle fermée.</a:t>
            </a:r>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endParaRPr lang="fr-FR" dirty="0"/>
          </a:p>
        </p:txBody>
      </p:sp>
      <p:sp>
        <p:nvSpPr>
          <p:cNvPr id="8" name="Rounded Rectangle 4">
            <a:extLst>
              <a:ext uri="{FF2B5EF4-FFF2-40B4-BE49-F238E27FC236}">
                <a16:creationId xmlns:a16="http://schemas.microsoft.com/office/drawing/2014/main" id="{ED595D30-86DB-A27E-E88A-98947A77A08E}"/>
              </a:ext>
            </a:extLst>
          </p:cNvPr>
          <p:cNvSpPr/>
          <p:nvPr/>
        </p:nvSpPr>
        <p:spPr>
          <a:xfrm>
            <a:off x="6217920" y="1645920"/>
            <a:ext cx="512064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spcAft>
                <a:spcPts val="1000"/>
              </a:spcAft>
              <a:defRPr sz="1500" b="1">
                <a:solidFill>
                  <a:srgbClr val="0F172A"/>
                </a:solidFill>
                <a:latin typeface="Segoe UI"/>
              </a:defRPr>
            </a:pPr>
            <a:r>
              <a:rPr lang="fr-FR" dirty="0"/>
              <a:t>Coût asymétrique :</a:t>
            </a:r>
            <a:endParaRPr dirty="0"/>
          </a:p>
          <a:p>
            <a:pPr>
              <a:spcAft>
                <a:spcPts val="800"/>
              </a:spcAft>
              <a:defRPr sz="1200" b="0">
                <a:solidFill>
                  <a:srgbClr val="475569"/>
                </a:solidFill>
                <a:latin typeface="Segoe UI"/>
              </a:defRPr>
            </a:pPr>
            <a:r>
              <a:rPr lang="fr-FR" dirty="0"/>
              <a:t>• Un Faux Positif (blocage client sain) = irritation utilisateur mineure.</a:t>
            </a:r>
          </a:p>
          <a:p>
            <a:pPr>
              <a:spcAft>
                <a:spcPts val="800"/>
              </a:spcAft>
              <a:defRPr sz="1200" b="0">
                <a:solidFill>
                  <a:srgbClr val="475569"/>
                </a:solidFill>
                <a:latin typeface="Segoe UI"/>
              </a:defRPr>
            </a:pPr>
            <a:r>
              <a:rPr lang="fr-FR" dirty="0"/>
              <a:t>• Métrique opérationnelle cible : score F2, qui donne 2x plus d'importance au rappel (</a:t>
            </a:r>
            <a:r>
              <a:rPr lang="fr-FR" dirty="0" err="1"/>
              <a:t>Recall</a:t>
            </a:r>
            <a:r>
              <a:rPr lang="fr-FR" dirty="0"/>
              <a:t>) qu'à la précision.</a:t>
            </a:r>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sz="1200" b="1" i="1" dirty="0"/>
              <a:t>     avec β = 2</a:t>
            </a:r>
            <a:endParaRPr lang="fr-FR" dirty="0"/>
          </a:p>
          <a:p>
            <a:pPr>
              <a:spcAft>
                <a:spcPts val="800"/>
              </a:spcAft>
              <a:defRPr sz="1200" b="0">
                <a:solidFill>
                  <a:srgbClr val="475569"/>
                </a:solidFill>
                <a:latin typeface="Segoe UI"/>
              </a:defRPr>
            </a:pPr>
            <a:endParaRPr dirty="0"/>
          </a:p>
        </p:txBody>
      </p:sp>
      <p:pic>
        <p:nvPicPr>
          <p:cNvPr id="9" name="Image 8">
            <a:extLst>
              <a:ext uri="{FF2B5EF4-FFF2-40B4-BE49-F238E27FC236}">
                <a16:creationId xmlns:a16="http://schemas.microsoft.com/office/drawing/2014/main" id="{5F797A44-EC21-6511-6BF6-BAC9DA2654C0}"/>
              </a:ext>
            </a:extLst>
          </p:cNvPr>
          <p:cNvPicPr>
            <a:picLocks noChangeAspect="1"/>
          </p:cNvPicPr>
          <p:nvPr/>
        </p:nvPicPr>
        <p:blipFill>
          <a:blip r:embed="rId3"/>
          <a:stretch>
            <a:fillRect/>
          </a:stretch>
        </p:blipFill>
        <p:spPr>
          <a:xfrm>
            <a:off x="6767280" y="3568855"/>
            <a:ext cx="3095625" cy="723900"/>
          </a:xfrm>
          <a:prstGeom prst="rect">
            <a:avLst/>
          </a:prstGeom>
        </p:spPr>
      </p:pic>
    </p:spTree>
    <p:extLst>
      <p:ext uri="{BB962C8B-B14F-4D97-AF65-F5344CB8AC3E}">
        <p14:creationId xmlns:p14="http://schemas.microsoft.com/office/powerpoint/2010/main" val="2598403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B9AE-1A99-CA88-3C50-FDF2F9A65F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6066496-8F71-C6FC-09D9-EB1C261C2370}"/>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
            <a:extLst>
              <a:ext uri="{FF2B5EF4-FFF2-40B4-BE49-F238E27FC236}">
                <a16:creationId xmlns:a16="http://schemas.microsoft.com/office/drawing/2014/main" id="{09E3BA53-119B-8415-C81A-E67ABD363B8E}"/>
              </a:ext>
            </a:extLst>
          </p:cNvPr>
          <p:cNvSpPr txBox="1"/>
          <p:nvPr/>
        </p:nvSpPr>
        <p:spPr>
          <a:xfrm>
            <a:off x="1081668" y="1534408"/>
            <a:ext cx="10332720" cy="1497846"/>
          </a:xfrm>
          <a:prstGeom prst="rect">
            <a:avLst/>
          </a:prstGeom>
          <a:noFill/>
        </p:spPr>
        <p:txBody>
          <a:bodyPr wrap="square" lIns="0" tIns="0" rIns="0" bIns="0">
            <a:spAutoFit/>
          </a:bodyPr>
          <a:lstStyle/>
          <a:p>
            <a:pPr>
              <a:spcAft>
                <a:spcPts val="800"/>
              </a:spcAft>
              <a:defRPr sz="3800" b="1">
                <a:solidFill>
                  <a:srgbClr val="0F172A"/>
                </a:solidFill>
                <a:latin typeface="Segoe UI"/>
              </a:defRPr>
            </a:pPr>
            <a:r>
              <a:rPr lang="fr-FR" sz="2800" dirty="0">
                <a:solidFill>
                  <a:srgbClr val="64748B"/>
                </a:solidFill>
              </a:rPr>
              <a:t>1. Contexte métier &amp; cadrage</a:t>
            </a:r>
          </a:p>
          <a:p>
            <a:pPr>
              <a:spcAft>
                <a:spcPts val="800"/>
              </a:spcAft>
              <a:defRPr sz="3800" b="1">
                <a:solidFill>
                  <a:srgbClr val="0F172A"/>
                </a:solidFill>
                <a:latin typeface="Segoe UI"/>
              </a:defRPr>
            </a:pPr>
            <a:r>
              <a:rPr lang="fr-FR" sz="2800" b="1" dirty="0">
                <a:solidFill>
                  <a:srgbClr val="10B981"/>
                </a:solidFill>
                <a:latin typeface="Segoe UI"/>
              </a:rPr>
              <a:t>2. Architecture </a:t>
            </a:r>
          </a:p>
          <a:p>
            <a:pPr>
              <a:spcAft>
                <a:spcPts val="800"/>
              </a:spcAft>
              <a:defRPr sz="3800" b="1">
                <a:solidFill>
                  <a:srgbClr val="0F172A"/>
                </a:solidFill>
                <a:latin typeface="Segoe UI"/>
              </a:defRPr>
            </a:pPr>
            <a:r>
              <a:rPr lang="fr-FR" sz="2800" dirty="0">
                <a:solidFill>
                  <a:srgbClr val="64748B"/>
                </a:solidFill>
              </a:rPr>
              <a:t>3. Qualité logicielle, CICD &amp; robustesse </a:t>
            </a:r>
          </a:p>
        </p:txBody>
      </p:sp>
    </p:spTree>
    <p:extLst>
      <p:ext uri="{BB962C8B-B14F-4D97-AF65-F5344CB8AC3E}">
        <p14:creationId xmlns:p14="http://schemas.microsoft.com/office/powerpoint/2010/main" val="399420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7519994B-8A1A-93A6-EF4C-7F3AEEAB8C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A7BD1F-5456-C6B2-A285-9C9B5A0B1ABD}"/>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3" name="TextBox 2">
            <a:extLst>
              <a:ext uri="{FF2B5EF4-FFF2-40B4-BE49-F238E27FC236}">
                <a16:creationId xmlns:a16="http://schemas.microsoft.com/office/drawing/2014/main" id="{98673DCC-D3DB-1617-94C6-36398084AA5A}"/>
              </a:ext>
            </a:extLst>
          </p:cNvPr>
          <p:cNvSpPr txBox="1"/>
          <p:nvPr/>
        </p:nvSpPr>
        <p:spPr>
          <a:xfrm>
            <a:off x="731520" y="594360"/>
            <a:ext cx="10698480" cy="800219"/>
          </a:xfrm>
          <a:prstGeom prst="rect">
            <a:avLst/>
          </a:prstGeom>
          <a:noFill/>
        </p:spPr>
        <p:txBody>
          <a:bodyPr wrap="square" lIns="0" tIns="0" rIns="0" bIns="0">
            <a:spAutoFit/>
          </a:bodyPr>
          <a:lstStyle/>
          <a:p>
            <a:pPr>
              <a:defRPr sz="2600" b="1">
                <a:solidFill>
                  <a:srgbClr val="0F172A"/>
                </a:solidFill>
                <a:latin typeface="Segoe UI"/>
              </a:defRPr>
            </a:pPr>
            <a:r>
              <a:rPr dirty="0"/>
              <a:t>Principe de </a:t>
            </a:r>
            <a:r>
              <a:rPr dirty="0" err="1"/>
              <a:t>minimisation</a:t>
            </a:r>
            <a:r>
              <a:rPr dirty="0"/>
              <a:t> : </a:t>
            </a:r>
            <a:r>
              <a:rPr lang="fr-FR" dirty="0"/>
              <a:t>s</a:t>
            </a:r>
            <a:r>
              <a:rPr dirty="0" err="1"/>
              <a:t>eules</a:t>
            </a:r>
            <a:r>
              <a:rPr dirty="0"/>
              <a:t> les données de transaction </a:t>
            </a:r>
            <a:r>
              <a:rPr dirty="0" err="1"/>
              <a:t>sont</a:t>
            </a:r>
            <a:r>
              <a:rPr dirty="0"/>
              <a:t> </a:t>
            </a:r>
            <a:r>
              <a:rPr dirty="0" err="1"/>
              <a:t>stockées</a:t>
            </a:r>
            <a:r>
              <a:rPr dirty="0"/>
              <a:t>.</a:t>
            </a:r>
            <a:r>
              <a:rPr lang="fr-FR" dirty="0"/>
              <a:t> </a:t>
            </a:r>
            <a:endParaRPr dirty="0"/>
          </a:p>
        </p:txBody>
      </p:sp>
      <p:sp>
        <p:nvSpPr>
          <p:cNvPr id="4" name="Rounded Rectangle 3">
            <a:extLst>
              <a:ext uri="{FF2B5EF4-FFF2-40B4-BE49-F238E27FC236}">
                <a16:creationId xmlns:a16="http://schemas.microsoft.com/office/drawing/2014/main" id="{4EAA9BAC-C27D-326A-12B8-6BC58036552E}"/>
              </a:ext>
            </a:extLst>
          </p:cNvPr>
          <p:cNvSpPr/>
          <p:nvPr/>
        </p:nvSpPr>
        <p:spPr>
          <a:xfrm>
            <a:off x="3992963" y="1954403"/>
            <a:ext cx="24688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spcAft>
                <a:spcPts val="1000"/>
              </a:spcAft>
              <a:defRPr sz="1500" b="1">
                <a:solidFill>
                  <a:srgbClr val="0F172A"/>
                </a:solidFill>
                <a:latin typeface="Segoe UI"/>
              </a:defRPr>
            </a:pPr>
            <a:endParaRPr lang="fr-FR" dirty="0"/>
          </a:p>
          <a:p>
            <a:pPr>
              <a:spcAft>
                <a:spcPts val="800"/>
              </a:spcAft>
              <a:defRPr sz="1100" b="1">
                <a:solidFill>
                  <a:srgbClr val="635BFF"/>
                </a:solidFill>
                <a:latin typeface="Segoe UI"/>
              </a:defRPr>
            </a:pPr>
            <a:r>
              <a:rPr dirty="0"/>
              <a:t>OLTP IMMUABLE</a:t>
            </a:r>
            <a:r>
              <a:rPr lang="fr-FR" dirty="0"/>
              <a:t> PostgreSQL</a:t>
            </a:r>
            <a:endParaRPr dirty="0"/>
          </a:p>
          <a:p>
            <a:pPr>
              <a:spcAft>
                <a:spcPts val="800"/>
              </a:spcAft>
              <a:defRPr sz="1200" b="0">
                <a:solidFill>
                  <a:srgbClr val="475569"/>
                </a:solidFill>
                <a:latin typeface="Segoe UI"/>
              </a:defRPr>
            </a:pPr>
            <a:r>
              <a:rPr lang="fr-FR" dirty="0"/>
              <a:t>• Minimisation des données pas de PII (</a:t>
            </a:r>
            <a:r>
              <a:rPr lang="fr-FR" dirty="0" err="1"/>
              <a:t>hashage</a:t>
            </a:r>
            <a:r>
              <a:rPr lang="fr-FR" dirty="0"/>
              <a:t> de </a:t>
            </a:r>
            <a:r>
              <a:rPr lang="fr-FR" dirty="0" err="1"/>
              <a:t>cc_num</a:t>
            </a:r>
            <a:r>
              <a:rPr lang="fr-FR" dirty="0"/>
              <a:t>)</a:t>
            </a:r>
          </a:p>
          <a:p>
            <a:pPr>
              <a:spcAft>
                <a:spcPts val="800"/>
              </a:spcAft>
              <a:defRPr sz="1200" b="0">
                <a:solidFill>
                  <a:srgbClr val="475569"/>
                </a:solidFill>
                <a:latin typeface="Segoe UI"/>
              </a:defRPr>
            </a:pPr>
            <a:r>
              <a:rPr dirty="0"/>
              <a:t>• </a:t>
            </a:r>
            <a:r>
              <a:rPr dirty="0" err="1"/>
              <a:t>Fiabilité</a:t>
            </a:r>
            <a:r>
              <a:rPr dirty="0"/>
              <a:t> ACID </a:t>
            </a:r>
            <a:r>
              <a:rPr dirty="0" err="1"/>
              <a:t>totale</a:t>
            </a:r>
            <a:r>
              <a:rPr dirty="0"/>
              <a:t>.</a:t>
            </a:r>
          </a:p>
          <a:p>
            <a:pPr>
              <a:spcAft>
                <a:spcPts val="800"/>
              </a:spcAft>
              <a:defRPr sz="1200" b="0">
                <a:solidFill>
                  <a:srgbClr val="475569"/>
                </a:solidFill>
                <a:latin typeface="Segoe UI"/>
              </a:defRPr>
            </a:pPr>
            <a:r>
              <a:rPr lang="fr-FR" dirty="0"/>
              <a:t>•  Registre en écriture seule </a:t>
            </a:r>
            <a:r>
              <a:rPr lang="fr-FR" i="1" dirty="0"/>
              <a:t>a</a:t>
            </a:r>
            <a:r>
              <a:rPr i="1" dirty="0" err="1"/>
              <a:t>ppend</a:t>
            </a:r>
            <a:r>
              <a:rPr i="1" dirty="0"/>
              <a:t>-</a:t>
            </a:r>
            <a:r>
              <a:rPr lang="fr-FR" i="1" dirty="0"/>
              <a:t>o</a:t>
            </a:r>
            <a:r>
              <a:rPr i="1" dirty="0" err="1"/>
              <a:t>nly</a:t>
            </a:r>
            <a:endParaRPr dirty="0"/>
          </a:p>
          <a:p>
            <a:pPr>
              <a:spcAft>
                <a:spcPts val="0"/>
              </a:spcAft>
              <a:defRPr sz="1200" b="0">
                <a:solidFill>
                  <a:srgbClr val="475569"/>
                </a:solidFill>
                <a:latin typeface="Segoe UI"/>
              </a:defRPr>
            </a:pPr>
            <a:r>
              <a:rPr dirty="0"/>
              <a:t>• </a:t>
            </a:r>
            <a:r>
              <a:rPr dirty="0" err="1"/>
              <a:t>Aucune</a:t>
            </a:r>
            <a:r>
              <a:rPr dirty="0"/>
              <a:t> mise à jour de </a:t>
            </a:r>
            <a:r>
              <a:rPr dirty="0" err="1"/>
              <a:t>solde</a:t>
            </a:r>
            <a:r>
              <a:rPr dirty="0"/>
              <a:t> (</a:t>
            </a:r>
            <a:r>
              <a:rPr dirty="0" err="1"/>
              <a:t>évite</a:t>
            </a:r>
            <a:r>
              <a:rPr dirty="0"/>
              <a:t> les </a:t>
            </a:r>
            <a:r>
              <a:rPr dirty="0" err="1"/>
              <a:t>verrous</a:t>
            </a:r>
            <a:r>
              <a:rPr dirty="0"/>
              <a:t>).</a:t>
            </a:r>
            <a:endParaRPr lang="fr-FR" dirty="0"/>
          </a:p>
          <a:p>
            <a:pPr>
              <a:spcAft>
                <a:spcPts val="0"/>
              </a:spcAft>
              <a:defRPr sz="1200" b="0">
                <a:solidFill>
                  <a:srgbClr val="475569"/>
                </a:solidFill>
                <a:latin typeface="Segoe UI"/>
              </a:defRPr>
            </a:pPr>
            <a:endParaRPr lang="fr-FR" dirty="0"/>
          </a:p>
          <a:p>
            <a:pPr>
              <a:spcAft>
                <a:spcPts val="0"/>
              </a:spcAft>
              <a:defRPr sz="1200" b="0">
                <a:solidFill>
                  <a:srgbClr val="475569"/>
                </a:solidFill>
                <a:latin typeface="Segoe UI"/>
              </a:defRPr>
            </a:pPr>
            <a:r>
              <a:rPr lang="fr-FR" dirty="0"/>
              <a:t>• Minimisation du stockage des valeurs de </a:t>
            </a:r>
            <a:r>
              <a:rPr lang="fr-FR" dirty="0" err="1"/>
              <a:t>shap</a:t>
            </a:r>
            <a:r>
              <a:rPr lang="fr-FR" dirty="0"/>
              <a:t>  UNIQUEMENT pour les transactions </a:t>
            </a:r>
            <a:r>
              <a:rPr lang="fr-FR" dirty="0" err="1"/>
              <a:t>frauduleusesgit</a:t>
            </a:r>
            <a:r>
              <a:rPr lang="fr-FR" dirty="0"/>
              <a:t> </a:t>
            </a:r>
            <a:r>
              <a:rPr lang="fr-FR" dirty="0" err="1"/>
              <a:t>status</a:t>
            </a:r>
            <a:endParaRPr lang="fr-FR" dirty="0"/>
          </a:p>
          <a:p>
            <a:pPr>
              <a:spcAft>
                <a:spcPts val="0"/>
              </a:spcAft>
              <a:defRPr sz="1200" b="0">
                <a:solidFill>
                  <a:srgbClr val="475569"/>
                </a:solidFill>
                <a:latin typeface="Segoe UI"/>
              </a:defRPr>
            </a:pPr>
            <a:endParaRPr lang="fr-FR" dirty="0"/>
          </a:p>
          <a:p>
            <a:pPr>
              <a:spcAft>
                <a:spcPts val="0"/>
              </a:spcAft>
              <a:defRPr sz="1200" b="0">
                <a:solidFill>
                  <a:srgbClr val="475569"/>
                </a:solidFill>
                <a:latin typeface="Segoe UI"/>
              </a:defRPr>
            </a:pPr>
            <a:endParaRPr lang="fr-FR" sz="800" dirty="0"/>
          </a:p>
          <a:p>
            <a:pPr>
              <a:spcAft>
                <a:spcPts val="0"/>
              </a:spcAft>
              <a:defRPr sz="1200" b="0">
                <a:solidFill>
                  <a:srgbClr val="475569"/>
                </a:solidFill>
                <a:latin typeface="Segoe UI"/>
              </a:defRPr>
            </a:pPr>
            <a:endParaRPr lang="fr-FR" sz="800" dirty="0"/>
          </a:p>
          <a:p>
            <a:pPr>
              <a:spcAft>
                <a:spcPts val="0"/>
              </a:spcAft>
              <a:defRPr sz="1200" b="0">
                <a:solidFill>
                  <a:srgbClr val="475569"/>
                </a:solidFill>
                <a:latin typeface="Segoe UI"/>
              </a:defRPr>
            </a:pPr>
            <a:endParaRPr lang="fr-FR" sz="800" dirty="0"/>
          </a:p>
          <a:p>
            <a:pPr>
              <a:spcAft>
                <a:spcPts val="0"/>
              </a:spcAft>
              <a:defRPr sz="1200" b="0">
                <a:solidFill>
                  <a:srgbClr val="475569"/>
                </a:solidFill>
                <a:latin typeface="Segoe UI"/>
              </a:defRPr>
            </a:pPr>
            <a:endParaRPr lang="fr-FR" sz="800" dirty="0"/>
          </a:p>
          <a:p>
            <a:pPr>
              <a:spcAft>
                <a:spcPts val="0"/>
              </a:spcAft>
              <a:defRPr sz="1200" b="0">
                <a:solidFill>
                  <a:srgbClr val="475569"/>
                </a:solidFill>
                <a:latin typeface="Segoe UI"/>
              </a:defRPr>
            </a:pPr>
            <a:r>
              <a:rPr lang="fr-FR" b="1" i="1" dirty="0">
                <a:solidFill>
                  <a:schemeClr val="bg1">
                    <a:lumMod val="65000"/>
                  </a:schemeClr>
                </a:solidFill>
              </a:rPr>
              <a:t> = comptable </a:t>
            </a:r>
            <a:endParaRPr b="1" i="1" dirty="0">
              <a:solidFill>
                <a:schemeClr val="bg1">
                  <a:lumMod val="65000"/>
                </a:schemeClr>
              </a:solidFill>
            </a:endParaRPr>
          </a:p>
        </p:txBody>
      </p:sp>
      <p:sp>
        <p:nvSpPr>
          <p:cNvPr id="6" name="Rounded Rectangle 5">
            <a:extLst>
              <a:ext uri="{FF2B5EF4-FFF2-40B4-BE49-F238E27FC236}">
                <a16:creationId xmlns:a16="http://schemas.microsoft.com/office/drawing/2014/main" id="{FB6D63FC-6C0F-7307-DF33-DCF5C6A1261B}"/>
              </a:ext>
            </a:extLst>
          </p:cNvPr>
          <p:cNvSpPr/>
          <p:nvPr/>
        </p:nvSpPr>
        <p:spPr>
          <a:xfrm>
            <a:off x="7237827" y="1977382"/>
            <a:ext cx="24688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spcAft>
                <a:spcPts val="1000"/>
              </a:spcAft>
              <a:defRPr sz="1500" b="1">
                <a:solidFill>
                  <a:srgbClr val="0F172A"/>
                </a:solidFill>
                <a:latin typeface="Segoe UI"/>
              </a:defRPr>
            </a:pPr>
            <a:endParaRPr lang="fr-FR" dirty="0"/>
          </a:p>
          <a:p>
            <a:pPr>
              <a:spcAft>
                <a:spcPts val="800"/>
              </a:spcAft>
              <a:defRPr sz="1100" b="1">
                <a:solidFill>
                  <a:srgbClr val="635BFF"/>
                </a:solidFill>
                <a:latin typeface="Segoe UI"/>
              </a:defRPr>
            </a:pPr>
            <a:r>
              <a:rPr dirty="0"/>
              <a:t>OLAP</a:t>
            </a:r>
            <a:r>
              <a:rPr lang="fr-FR" dirty="0"/>
              <a:t> avec DBT</a:t>
            </a:r>
            <a:endParaRPr dirty="0"/>
          </a:p>
          <a:p>
            <a:pPr>
              <a:spcAft>
                <a:spcPts val="800"/>
              </a:spcAft>
              <a:defRPr sz="1200" b="0">
                <a:solidFill>
                  <a:srgbClr val="475569"/>
                </a:solidFill>
                <a:latin typeface="Segoe UI"/>
              </a:defRPr>
            </a:pPr>
            <a:r>
              <a:rPr dirty="0"/>
              <a:t>• </a:t>
            </a:r>
            <a:r>
              <a:rPr dirty="0" err="1"/>
              <a:t>Analyse</a:t>
            </a:r>
            <a:r>
              <a:rPr dirty="0"/>
              <a:t> </a:t>
            </a:r>
            <a:r>
              <a:rPr dirty="0" err="1"/>
              <a:t>décisionnelle</a:t>
            </a:r>
            <a:r>
              <a:rPr dirty="0"/>
              <a:t> </a:t>
            </a:r>
            <a:r>
              <a:rPr lang="fr-FR" dirty="0"/>
              <a:t>complexe et </a:t>
            </a:r>
            <a:r>
              <a:rPr lang="fr-FR" dirty="0" err="1"/>
              <a:t>reporting</a:t>
            </a:r>
            <a:r>
              <a:rPr lang="fr-FR" dirty="0"/>
              <a:t> : analyse de Pareto pour la </a:t>
            </a:r>
            <a:r>
              <a:rPr lang="fr-FR" dirty="0" err="1"/>
              <a:t>concentation</a:t>
            </a:r>
            <a:r>
              <a:rPr lang="fr-FR" dirty="0"/>
              <a:t> des </a:t>
            </a:r>
            <a:r>
              <a:rPr lang="fr-FR" dirty="0" err="1"/>
              <a:t>riques</a:t>
            </a:r>
            <a:r>
              <a:rPr lang="fr-FR" dirty="0"/>
              <a:t>.</a:t>
            </a:r>
          </a:p>
          <a:p>
            <a:pPr>
              <a:spcAft>
                <a:spcPts val="0"/>
              </a:spcAft>
              <a:defRPr sz="1200" b="0">
                <a:solidFill>
                  <a:srgbClr val="475569"/>
                </a:solidFill>
                <a:latin typeface="Segoe UI"/>
              </a:defRPr>
            </a:pPr>
            <a:r>
              <a:rPr lang="fr-FR" dirty="0"/>
              <a:t>• Vues matérialisées (ex : Analyse temporelle des pics de fraude; profil d’explicabilité par </a:t>
            </a:r>
            <a:r>
              <a:rPr lang="fr-FR" dirty="0" err="1"/>
              <a:t>merchant_id</a:t>
            </a:r>
            <a:r>
              <a:rPr lang="fr-FR" dirty="0"/>
              <a:t>)</a:t>
            </a:r>
          </a:p>
          <a:p>
            <a:pPr>
              <a:spcAft>
                <a:spcPts val="0"/>
              </a:spcAft>
              <a:defRPr sz="1200" b="0">
                <a:solidFill>
                  <a:srgbClr val="475569"/>
                </a:solidFill>
                <a:latin typeface="Segoe UI"/>
              </a:defRPr>
            </a:pPr>
            <a:endParaRPr lang="fr-FR" dirty="0"/>
          </a:p>
          <a:p>
            <a:pPr>
              <a:spcAft>
                <a:spcPts val="0"/>
              </a:spcAft>
              <a:defRPr sz="1200" b="0">
                <a:solidFill>
                  <a:srgbClr val="475569"/>
                </a:solidFill>
                <a:latin typeface="Segoe UI"/>
              </a:defRPr>
            </a:pPr>
            <a:endParaRPr lang="fr-FR" dirty="0"/>
          </a:p>
          <a:p>
            <a:pPr>
              <a:spcAft>
                <a:spcPts val="0"/>
              </a:spcAft>
              <a:defRPr sz="1200" b="0">
                <a:solidFill>
                  <a:srgbClr val="475569"/>
                </a:solidFill>
                <a:latin typeface="Segoe UI"/>
              </a:defRPr>
            </a:pPr>
            <a:endParaRPr lang="fr-FR" dirty="0"/>
          </a:p>
          <a:p>
            <a:pPr>
              <a:defRPr sz="1200" b="0">
                <a:solidFill>
                  <a:srgbClr val="475569"/>
                </a:solidFill>
                <a:latin typeface="Segoe UI"/>
              </a:defRPr>
            </a:pPr>
            <a:r>
              <a:rPr lang="fr-FR" b="1" i="1" dirty="0">
                <a:solidFill>
                  <a:schemeClr val="bg1">
                    <a:lumMod val="65000"/>
                  </a:schemeClr>
                </a:solidFill>
              </a:rPr>
              <a:t> = statisticien </a:t>
            </a:r>
          </a:p>
          <a:p>
            <a:pPr>
              <a:spcAft>
                <a:spcPts val="0"/>
              </a:spcAft>
              <a:defRPr sz="1200" b="0">
                <a:solidFill>
                  <a:srgbClr val="475569"/>
                </a:solidFill>
                <a:latin typeface="Segoe UI"/>
              </a:defRPr>
            </a:pPr>
            <a:endParaRPr dirty="0"/>
          </a:p>
        </p:txBody>
      </p:sp>
      <p:sp>
        <p:nvSpPr>
          <p:cNvPr id="7" name="Rounded Rectangle 6">
            <a:extLst>
              <a:ext uri="{FF2B5EF4-FFF2-40B4-BE49-F238E27FC236}">
                <a16:creationId xmlns:a16="http://schemas.microsoft.com/office/drawing/2014/main" id="{B5B6FBFD-DB22-4D6A-8BF0-4DAAFEF5D733}"/>
              </a:ext>
            </a:extLst>
          </p:cNvPr>
          <p:cNvSpPr/>
          <p:nvPr/>
        </p:nvSpPr>
        <p:spPr>
          <a:xfrm>
            <a:off x="748099" y="1977382"/>
            <a:ext cx="24688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spcAft>
                <a:spcPts val="1000"/>
              </a:spcAft>
              <a:defRPr sz="1500" b="1">
                <a:solidFill>
                  <a:srgbClr val="0F172A"/>
                </a:solidFill>
                <a:latin typeface="Segoe UI"/>
              </a:defRPr>
            </a:pPr>
            <a:endParaRPr dirty="0"/>
          </a:p>
          <a:p>
            <a:pPr>
              <a:spcAft>
                <a:spcPts val="800"/>
              </a:spcAft>
              <a:defRPr sz="1100" b="1">
                <a:solidFill>
                  <a:srgbClr val="635BFF"/>
                </a:solidFill>
                <a:latin typeface="Segoe UI"/>
              </a:defRPr>
            </a:pPr>
            <a:r>
              <a:rPr dirty="0"/>
              <a:t>FEATURE STORE TEMPS RÉEL</a:t>
            </a:r>
            <a:r>
              <a:rPr lang="fr-FR" dirty="0"/>
              <a:t> REDIS</a:t>
            </a:r>
            <a:endParaRPr dirty="0"/>
          </a:p>
          <a:p>
            <a:pPr>
              <a:spcAft>
                <a:spcPts val="800"/>
              </a:spcAft>
              <a:defRPr sz="1200" b="0">
                <a:solidFill>
                  <a:srgbClr val="475569"/>
                </a:solidFill>
                <a:latin typeface="Segoe UI"/>
              </a:defRPr>
            </a:pPr>
            <a:r>
              <a:rPr dirty="0"/>
              <a:t>• </a:t>
            </a:r>
            <a:r>
              <a:rPr dirty="0" err="1"/>
              <a:t>Accès</a:t>
            </a:r>
            <a:r>
              <a:rPr dirty="0"/>
              <a:t> O(1) </a:t>
            </a:r>
            <a:r>
              <a:rPr dirty="0" err="1"/>
              <a:t>en</a:t>
            </a:r>
            <a:r>
              <a:rPr dirty="0"/>
              <a:t> lecture sous les </a:t>
            </a:r>
            <a:r>
              <a:rPr lang="fr-FR" dirty="0"/>
              <a:t>2</a:t>
            </a:r>
            <a:r>
              <a:rPr dirty="0"/>
              <a:t> </a:t>
            </a:r>
            <a:r>
              <a:rPr dirty="0" err="1"/>
              <a:t>ms.</a:t>
            </a:r>
            <a:endParaRPr dirty="0"/>
          </a:p>
          <a:p>
            <a:pPr>
              <a:spcAft>
                <a:spcPts val="800"/>
              </a:spcAft>
              <a:defRPr sz="1200" b="0">
                <a:solidFill>
                  <a:srgbClr val="475569"/>
                </a:solidFill>
                <a:latin typeface="Segoe UI"/>
              </a:defRPr>
            </a:pPr>
            <a:r>
              <a:rPr dirty="0"/>
              <a:t>• S</a:t>
            </a:r>
            <a:r>
              <a:rPr lang="fr-FR" dirty="0" err="1"/>
              <a:t>euils</a:t>
            </a:r>
            <a:r>
              <a:rPr lang="fr-FR" dirty="0"/>
              <a:t> de fraude calculés par les valeurs de </a:t>
            </a:r>
            <a:r>
              <a:rPr lang="fr-FR" dirty="0" err="1"/>
              <a:t>shap</a:t>
            </a:r>
            <a:endParaRPr dirty="0"/>
          </a:p>
          <a:p>
            <a:pPr>
              <a:spcAft>
                <a:spcPts val="0"/>
              </a:spcAft>
              <a:defRPr sz="1200" b="0">
                <a:solidFill>
                  <a:srgbClr val="475569"/>
                </a:solidFill>
                <a:latin typeface="Segoe UI"/>
              </a:defRPr>
            </a:pPr>
            <a:r>
              <a:rPr dirty="0"/>
              <a:t>• Pipeline </a:t>
            </a:r>
            <a:r>
              <a:rPr dirty="0" err="1"/>
              <a:t>d'écriture</a:t>
            </a:r>
            <a:r>
              <a:rPr dirty="0"/>
              <a:t> </a:t>
            </a:r>
            <a:r>
              <a:rPr dirty="0" err="1"/>
              <a:t>asynchrone</a:t>
            </a:r>
            <a:r>
              <a:rPr dirty="0"/>
              <a:t> non-</a:t>
            </a:r>
            <a:r>
              <a:rPr dirty="0" err="1"/>
              <a:t>bloquant</a:t>
            </a:r>
            <a:r>
              <a:rPr dirty="0"/>
              <a:t>.</a:t>
            </a:r>
            <a:endParaRPr lang="fr-FR" dirty="0"/>
          </a:p>
          <a:p>
            <a:pPr>
              <a:spcAft>
                <a:spcPts val="0"/>
              </a:spcAft>
              <a:defRPr sz="1200" b="0">
                <a:solidFill>
                  <a:srgbClr val="475569"/>
                </a:solidFill>
                <a:latin typeface="Segoe UI"/>
              </a:defRPr>
            </a:pPr>
            <a:endParaRPr lang="fr-FR" dirty="0"/>
          </a:p>
          <a:p>
            <a:pPr>
              <a:spcAft>
                <a:spcPts val="0"/>
              </a:spcAft>
              <a:defRPr sz="1200" b="0">
                <a:solidFill>
                  <a:srgbClr val="475569"/>
                </a:solidFill>
                <a:latin typeface="Segoe UI"/>
              </a:defRPr>
            </a:pPr>
            <a:endParaRPr lang="fr-FR" dirty="0"/>
          </a:p>
          <a:p>
            <a:pPr>
              <a:spcAft>
                <a:spcPts val="0"/>
              </a:spcAft>
              <a:defRPr sz="1200" b="0">
                <a:solidFill>
                  <a:srgbClr val="475569"/>
                </a:solidFill>
                <a:latin typeface="Segoe UI"/>
              </a:defRPr>
            </a:pPr>
            <a:endParaRPr lang="fr-FR" dirty="0"/>
          </a:p>
          <a:p>
            <a:pPr>
              <a:spcAft>
                <a:spcPts val="0"/>
              </a:spcAft>
              <a:defRPr sz="1200" b="0">
                <a:solidFill>
                  <a:srgbClr val="475569"/>
                </a:solidFill>
                <a:latin typeface="Segoe UI"/>
              </a:defRPr>
            </a:pPr>
            <a:endParaRPr lang="fr-FR" dirty="0"/>
          </a:p>
          <a:p>
            <a:pPr>
              <a:defRPr sz="1200" b="0">
                <a:solidFill>
                  <a:srgbClr val="475569"/>
                </a:solidFill>
                <a:latin typeface="Segoe UI"/>
              </a:defRPr>
            </a:pPr>
            <a:r>
              <a:rPr lang="fr-FR" b="1" i="1" dirty="0">
                <a:solidFill>
                  <a:schemeClr val="bg1">
                    <a:lumMod val="65000"/>
                  </a:schemeClr>
                </a:solidFill>
              </a:rPr>
              <a:t>= sprinteur </a:t>
            </a:r>
          </a:p>
          <a:p>
            <a:pPr>
              <a:spcAft>
                <a:spcPts val="0"/>
              </a:spcAft>
              <a:defRPr sz="1200" b="0">
                <a:solidFill>
                  <a:srgbClr val="475569"/>
                </a:solidFill>
                <a:latin typeface="Segoe UI"/>
              </a:defRPr>
            </a:pPr>
            <a:endParaRPr dirty="0"/>
          </a:p>
        </p:txBody>
      </p:sp>
      <p:sp>
        <p:nvSpPr>
          <p:cNvPr id="9" name="Rectangle 8">
            <a:extLst>
              <a:ext uri="{FF2B5EF4-FFF2-40B4-BE49-F238E27FC236}">
                <a16:creationId xmlns:a16="http://schemas.microsoft.com/office/drawing/2014/main" id="{0024BA96-AE09-CD0E-E8F2-261FAABC4C9B}"/>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12440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F966A3A1-7B72-A53D-119E-4DDE369B69E1}"/>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2F0F2592-AC1E-8517-6877-0C171B0B75D5}"/>
              </a:ext>
            </a:extLst>
          </p:cNvPr>
          <p:cNvSpPr txBox="1"/>
          <p:nvPr/>
        </p:nvSpPr>
        <p:spPr>
          <a:xfrm>
            <a:off x="601980" y="74676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Vue générale</a:t>
            </a:r>
            <a:endParaRPr dirty="0"/>
          </a:p>
        </p:txBody>
      </p:sp>
      <p:pic>
        <p:nvPicPr>
          <p:cNvPr id="11" name="Image 10">
            <a:extLst>
              <a:ext uri="{FF2B5EF4-FFF2-40B4-BE49-F238E27FC236}">
                <a16:creationId xmlns:a16="http://schemas.microsoft.com/office/drawing/2014/main" id="{E369D4EC-90DE-6FDA-EB55-8775F69DFEE8}"/>
              </a:ext>
            </a:extLst>
          </p:cNvPr>
          <p:cNvPicPr>
            <a:picLocks noChangeAspect="1"/>
          </p:cNvPicPr>
          <p:nvPr/>
        </p:nvPicPr>
        <p:blipFill>
          <a:blip r:embed="rId3"/>
          <a:stretch>
            <a:fillRect/>
          </a:stretch>
        </p:blipFill>
        <p:spPr>
          <a:xfrm>
            <a:off x="601980" y="1374445"/>
            <a:ext cx="9896475" cy="5483555"/>
          </a:xfrm>
          <a:prstGeom prst="rect">
            <a:avLst/>
          </a:prstGeom>
        </p:spPr>
      </p:pic>
      <p:sp>
        <p:nvSpPr>
          <p:cNvPr id="4" name="TextBox 1">
            <a:extLst>
              <a:ext uri="{FF2B5EF4-FFF2-40B4-BE49-F238E27FC236}">
                <a16:creationId xmlns:a16="http://schemas.microsoft.com/office/drawing/2014/main" id="{1DC0C8C9-B48E-62B8-EEE8-A3C97FDDB971}"/>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7" name="Rectangle 6">
            <a:extLst>
              <a:ext uri="{FF2B5EF4-FFF2-40B4-BE49-F238E27FC236}">
                <a16:creationId xmlns:a16="http://schemas.microsoft.com/office/drawing/2014/main" id="{EB606046-E7F8-E291-EC69-A44622569D90}"/>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98716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DC4C7A5A-7C6A-3B1B-ACFF-2EDD87EA27E1}"/>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EBE95EC4-D75D-7463-8753-3310D55CF8D5}"/>
              </a:ext>
            </a:extLst>
          </p:cNvPr>
          <p:cNvSpPr txBox="1"/>
          <p:nvPr/>
        </p:nvSpPr>
        <p:spPr>
          <a:xfrm>
            <a:off x="601980" y="746760"/>
            <a:ext cx="10698480" cy="800219"/>
          </a:xfrm>
          <a:prstGeom prst="rect">
            <a:avLst/>
          </a:prstGeom>
          <a:noFill/>
        </p:spPr>
        <p:txBody>
          <a:bodyPr wrap="square" lIns="0" tIns="0" rIns="0" bIns="0">
            <a:spAutoFit/>
          </a:bodyPr>
          <a:lstStyle/>
          <a:p>
            <a:pPr>
              <a:defRPr sz="2600" b="1">
                <a:solidFill>
                  <a:srgbClr val="0F172A"/>
                </a:solidFill>
                <a:latin typeface="Segoe UI"/>
              </a:defRPr>
            </a:pPr>
            <a:r>
              <a:rPr lang="fr-FR" dirty="0"/>
              <a:t>Gros plan « fast </a:t>
            </a:r>
            <a:r>
              <a:rPr lang="fr-FR" dirty="0" err="1"/>
              <a:t>path</a:t>
            </a:r>
            <a:r>
              <a:rPr lang="fr-FR" dirty="0"/>
              <a:t> » Redis &amp; </a:t>
            </a:r>
            <a:r>
              <a:rPr lang="fr-FR" dirty="0" err="1"/>
              <a:t>shap</a:t>
            </a:r>
            <a:r>
              <a:rPr lang="fr-FR" dirty="0"/>
              <a:t> </a:t>
            </a:r>
            <a:r>
              <a:rPr lang="fr-FR" dirty="0" err="1"/>
              <a:t>rules</a:t>
            </a:r>
            <a:endParaRPr lang="fr-FR" dirty="0"/>
          </a:p>
          <a:p>
            <a:pPr>
              <a:defRPr sz="2600" b="1">
                <a:solidFill>
                  <a:srgbClr val="0F172A"/>
                </a:solidFill>
                <a:latin typeface="Segoe UI"/>
              </a:defRPr>
            </a:pPr>
            <a:endParaRPr dirty="0"/>
          </a:p>
        </p:txBody>
      </p:sp>
      <p:pic>
        <p:nvPicPr>
          <p:cNvPr id="4" name="Image 3">
            <a:extLst>
              <a:ext uri="{FF2B5EF4-FFF2-40B4-BE49-F238E27FC236}">
                <a16:creationId xmlns:a16="http://schemas.microsoft.com/office/drawing/2014/main" id="{000647FE-49BE-241B-B3E6-94D525CADFB2}"/>
              </a:ext>
            </a:extLst>
          </p:cNvPr>
          <p:cNvPicPr>
            <a:picLocks noChangeAspect="1"/>
          </p:cNvPicPr>
          <p:nvPr/>
        </p:nvPicPr>
        <p:blipFill>
          <a:blip r:embed="rId3"/>
          <a:stretch>
            <a:fillRect/>
          </a:stretch>
        </p:blipFill>
        <p:spPr>
          <a:xfrm>
            <a:off x="573578" y="1127554"/>
            <a:ext cx="11014364" cy="5730446"/>
          </a:xfrm>
          <a:prstGeom prst="rect">
            <a:avLst/>
          </a:prstGeom>
        </p:spPr>
      </p:pic>
      <p:sp>
        <p:nvSpPr>
          <p:cNvPr id="7" name="TextBox 1">
            <a:extLst>
              <a:ext uri="{FF2B5EF4-FFF2-40B4-BE49-F238E27FC236}">
                <a16:creationId xmlns:a16="http://schemas.microsoft.com/office/drawing/2014/main" id="{1CBD7A67-6BFA-062E-49B9-88E6365741FE}"/>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9" name="Rectangle 8">
            <a:extLst>
              <a:ext uri="{FF2B5EF4-FFF2-40B4-BE49-F238E27FC236}">
                <a16:creationId xmlns:a16="http://schemas.microsoft.com/office/drawing/2014/main" id="{159F1A65-9FA1-2BF6-CF21-1AC0104B7CF6}"/>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99070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5F0E3884-71FE-B0B3-9B72-8377F0F3D0E3}"/>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7B402493-3040-510E-518C-5EB3315B8D1A}"/>
              </a:ext>
            </a:extLst>
          </p:cNvPr>
          <p:cNvSpPr txBox="1"/>
          <p:nvPr/>
        </p:nvSpPr>
        <p:spPr>
          <a:xfrm>
            <a:off x="601980" y="746760"/>
            <a:ext cx="10698480" cy="400110"/>
          </a:xfrm>
          <a:prstGeom prst="rect">
            <a:avLst/>
          </a:prstGeom>
          <a:noFill/>
        </p:spPr>
        <p:txBody>
          <a:bodyPr wrap="square" lIns="0" tIns="0" rIns="0" bIns="0">
            <a:spAutoFit/>
          </a:bodyPr>
          <a:lstStyle/>
          <a:p>
            <a:pPr>
              <a:defRPr sz="2600" b="1">
                <a:solidFill>
                  <a:srgbClr val="0F172A"/>
                </a:solidFill>
                <a:latin typeface="Segoe UI"/>
              </a:defRPr>
            </a:pPr>
            <a:r>
              <a:rPr dirty="0"/>
              <a:t>0</a:t>
            </a:r>
            <a:r>
              <a:rPr lang="fr-FR" dirty="0"/>
              <a:t>2</a:t>
            </a:r>
            <a:r>
              <a:rPr dirty="0"/>
              <a:t>. </a:t>
            </a:r>
            <a:r>
              <a:rPr lang="fr-FR" dirty="0"/>
              <a:t>Orchestration </a:t>
            </a:r>
            <a:r>
              <a:rPr lang="fr-FR" dirty="0" err="1"/>
              <a:t>Airflow</a:t>
            </a:r>
            <a:r>
              <a:rPr lang="fr-FR" dirty="0"/>
              <a:t> de l’inférence batch</a:t>
            </a:r>
            <a:endParaRPr dirty="0"/>
          </a:p>
        </p:txBody>
      </p:sp>
      <p:pic>
        <p:nvPicPr>
          <p:cNvPr id="6" name="Image 5">
            <a:extLst>
              <a:ext uri="{FF2B5EF4-FFF2-40B4-BE49-F238E27FC236}">
                <a16:creationId xmlns:a16="http://schemas.microsoft.com/office/drawing/2014/main" id="{C2B94637-A8E7-9502-FC0E-FA6F857CB733}"/>
              </a:ext>
            </a:extLst>
          </p:cNvPr>
          <p:cNvPicPr>
            <a:picLocks noChangeAspect="1"/>
          </p:cNvPicPr>
          <p:nvPr/>
        </p:nvPicPr>
        <p:blipFill>
          <a:blip r:embed="rId3"/>
          <a:stretch>
            <a:fillRect/>
          </a:stretch>
        </p:blipFill>
        <p:spPr>
          <a:xfrm>
            <a:off x="601980" y="1281202"/>
            <a:ext cx="9991898" cy="5412973"/>
          </a:xfrm>
          <a:prstGeom prst="rect">
            <a:avLst/>
          </a:prstGeom>
        </p:spPr>
      </p:pic>
      <p:cxnSp>
        <p:nvCxnSpPr>
          <p:cNvPr id="9" name="Connecteur droit avec flèche 8">
            <a:extLst>
              <a:ext uri="{FF2B5EF4-FFF2-40B4-BE49-F238E27FC236}">
                <a16:creationId xmlns:a16="http://schemas.microsoft.com/office/drawing/2014/main" id="{580299C7-0085-FAB5-BA0D-CA36B1707DF1}"/>
              </a:ext>
            </a:extLst>
          </p:cNvPr>
          <p:cNvCxnSpPr/>
          <p:nvPr/>
        </p:nvCxnSpPr>
        <p:spPr>
          <a:xfrm flipH="1">
            <a:off x="3235569" y="5747657"/>
            <a:ext cx="58280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xtBox 1">
            <a:extLst>
              <a:ext uri="{FF2B5EF4-FFF2-40B4-BE49-F238E27FC236}">
                <a16:creationId xmlns:a16="http://schemas.microsoft.com/office/drawing/2014/main" id="{F48EF724-5B4A-6D1E-743C-F525D84B0CCC}"/>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13" name="Rectangle 12">
            <a:extLst>
              <a:ext uri="{FF2B5EF4-FFF2-40B4-BE49-F238E27FC236}">
                <a16:creationId xmlns:a16="http://schemas.microsoft.com/office/drawing/2014/main" id="{EEA167E0-6089-5CCC-3BC8-771ECAB3CDCF}"/>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57155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C2627850-FE19-4221-B56E-234CCEE65361}"/>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AFB94089-CD3D-8781-E215-8AA90FDCE701}"/>
              </a:ext>
            </a:extLst>
          </p:cNvPr>
          <p:cNvSpPr txBox="1"/>
          <p:nvPr/>
        </p:nvSpPr>
        <p:spPr>
          <a:xfrm>
            <a:off x="601980" y="746760"/>
            <a:ext cx="10698480" cy="400110"/>
          </a:xfrm>
          <a:prstGeom prst="rect">
            <a:avLst/>
          </a:prstGeom>
          <a:noFill/>
        </p:spPr>
        <p:txBody>
          <a:bodyPr wrap="square" lIns="0" tIns="0" rIns="0" bIns="0">
            <a:spAutoFit/>
          </a:bodyPr>
          <a:lstStyle/>
          <a:p>
            <a:pPr>
              <a:defRPr sz="2600" b="1">
                <a:solidFill>
                  <a:srgbClr val="0F172A"/>
                </a:solidFill>
                <a:latin typeface="Segoe UI"/>
              </a:defRPr>
            </a:pPr>
            <a:r>
              <a:rPr dirty="0"/>
              <a:t>0</a:t>
            </a:r>
            <a:r>
              <a:rPr lang="fr-FR" dirty="0"/>
              <a:t>2</a:t>
            </a:r>
            <a:r>
              <a:rPr dirty="0"/>
              <a:t>. </a:t>
            </a:r>
            <a:r>
              <a:rPr lang="fr-FR" dirty="0"/>
              <a:t>Dag </a:t>
            </a:r>
            <a:r>
              <a:rPr lang="fr-FR" dirty="0" err="1"/>
              <a:t>Detect</a:t>
            </a:r>
            <a:r>
              <a:rPr lang="fr-FR" dirty="0"/>
              <a:t> drift, </a:t>
            </a:r>
            <a:r>
              <a:rPr lang="fr-FR" dirty="0" err="1"/>
              <a:t>retrain</a:t>
            </a:r>
            <a:r>
              <a:rPr lang="fr-FR" dirty="0"/>
              <a:t> &amp; export </a:t>
            </a:r>
            <a:r>
              <a:rPr lang="fr-FR" dirty="0" err="1"/>
              <a:t>shap</a:t>
            </a:r>
            <a:r>
              <a:rPr lang="fr-FR" dirty="0"/>
              <a:t> </a:t>
            </a:r>
            <a:r>
              <a:rPr lang="fr-FR" dirty="0" err="1"/>
              <a:t>rules</a:t>
            </a:r>
            <a:endParaRPr dirty="0"/>
          </a:p>
        </p:txBody>
      </p:sp>
      <p:pic>
        <p:nvPicPr>
          <p:cNvPr id="4" name="Image 3">
            <a:extLst>
              <a:ext uri="{FF2B5EF4-FFF2-40B4-BE49-F238E27FC236}">
                <a16:creationId xmlns:a16="http://schemas.microsoft.com/office/drawing/2014/main" id="{3D966D6D-42AE-5A87-587A-C9D35DD55B09}"/>
              </a:ext>
            </a:extLst>
          </p:cNvPr>
          <p:cNvPicPr>
            <a:picLocks noChangeAspect="1"/>
          </p:cNvPicPr>
          <p:nvPr/>
        </p:nvPicPr>
        <p:blipFill>
          <a:blip r:embed="rId3"/>
          <a:stretch>
            <a:fillRect/>
          </a:stretch>
        </p:blipFill>
        <p:spPr>
          <a:xfrm>
            <a:off x="601980" y="1281202"/>
            <a:ext cx="9131074" cy="5544955"/>
          </a:xfrm>
          <a:prstGeom prst="rect">
            <a:avLst/>
          </a:prstGeom>
        </p:spPr>
      </p:pic>
      <p:sp>
        <p:nvSpPr>
          <p:cNvPr id="10" name="TextBox 1">
            <a:extLst>
              <a:ext uri="{FF2B5EF4-FFF2-40B4-BE49-F238E27FC236}">
                <a16:creationId xmlns:a16="http://schemas.microsoft.com/office/drawing/2014/main" id="{03F417F7-C464-F486-3C33-C2060D2A3B14}"/>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12" name="Rectangle 11">
            <a:extLst>
              <a:ext uri="{FF2B5EF4-FFF2-40B4-BE49-F238E27FC236}">
                <a16:creationId xmlns:a16="http://schemas.microsoft.com/office/drawing/2014/main" id="{21F2D220-1230-85E2-1994-86EB42797F0A}"/>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615272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6442A56C-067B-74CE-9E3E-518D37DFEFE5}"/>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7E4F8234-A82A-95F0-E1B5-B0A6FB24DDBD}"/>
              </a:ext>
            </a:extLst>
          </p:cNvPr>
          <p:cNvSpPr txBox="1"/>
          <p:nvPr/>
        </p:nvSpPr>
        <p:spPr>
          <a:xfrm>
            <a:off x="601980" y="74676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Détail archi </a:t>
            </a:r>
            <a:r>
              <a:rPr lang="fr-FR" dirty="0" err="1"/>
              <a:t>FastAPI</a:t>
            </a:r>
            <a:endParaRPr dirty="0"/>
          </a:p>
        </p:txBody>
      </p:sp>
      <p:pic>
        <p:nvPicPr>
          <p:cNvPr id="8" name="Image 7">
            <a:extLst>
              <a:ext uri="{FF2B5EF4-FFF2-40B4-BE49-F238E27FC236}">
                <a16:creationId xmlns:a16="http://schemas.microsoft.com/office/drawing/2014/main" id="{33B50872-B928-8E7E-7758-7BB882A7D1F2}"/>
              </a:ext>
            </a:extLst>
          </p:cNvPr>
          <p:cNvPicPr>
            <a:picLocks noChangeAspect="1"/>
          </p:cNvPicPr>
          <p:nvPr/>
        </p:nvPicPr>
        <p:blipFill>
          <a:blip r:embed="rId3"/>
          <a:stretch>
            <a:fillRect/>
          </a:stretch>
        </p:blipFill>
        <p:spPr>
          <a:xfrm>
            <a:off x="601980" y="1290551"/>
            <a:ext cx="8385812" cy="5247409"/>
          </a:xfrm>
          <a:prstGeom prst="rect">
            <a:avLst/>
          </a:prstGeom>
        </p:spPr>
      </p:pic>
      <p:sp>
        <p:nvSpPr>
          <p:cNvPr id="10" name="TextBox 1">
            <a:extLst>
              <a:ext uri="{FF2B5EF4-FFF2-40B4-BE49-F238E27FC236}">
                <a16:creationId xmlns:a16="http://schemas.microsoft.com/office/drawing/2014/main" id="{5270E46A-E852-E7CC-1140-CF9A502047C5}"/>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12" name="Rectangle 11">
            <a:extLst>
              <a:ext uri="{FF2B5EF4-FFF2-40B4-BE49-F238E27FC236}">
                <a16:creationId xmlns:a16="http://schemas.microsoft.com/office/drawing/2014/main" id="{6F2076A1-B83F-C1BE-61F9-DDC142A640C0}"/>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122238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928FFE56-CAA5-CA2D-246A-2477192C24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269F0E-980E-6411-9AC2-17E822E8FB73}"/>
              </a:ext>
            </a:extLst>
          </p:cNvPr>
          <p:cNvSpPr txBox="1"/>
          <p:nvPr/>
        </p:nvSpPr>
        <p:spPr>
          <a:xfrm>
            <a:off x="731520" y="59436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Transparence, </a:t>
            </a:r>
            <a:r>
              <a:rPr lang="fr-FR" dirty="0" err="1"/>
              <a:t>webhooks</a:t>
            </a:r>
            <a:r>
              <a:rPr lang="fr-FR" dirty="0"/>
              <a:t> marchands, latence </a:t>
            </a:r>
            <a:endParaRPr dirty="0"/>
          </a:p>
        </p:txBody>
      </p:sp>
      <p:sp>
        <p:nvSpPr>
          <p:cNvPr id="4" name="Rounded Rectangle 3">
            <a:extLst>
              <a:ext uri="{FF2B5EF4-FFF2-40B4-BE49-F238E27FC236}">
                <a16:creationId xmlns:a16="http://schemas.microsoft.com/office/drawing/2014/main" id="{3F12592F-059F-BF5B-8C9B-09AD267535FF}"/>
              </a:ext>
            </a:extLst>
          </p:cNvPr>
          <p:cNvSpPr/>
          <p:nvPr/>
        </p:nvSpPr>
        <p:spPr>
          <a:xfrm>
            <a:off x="539763" y="1612759"/>
            <a:ext cx="5120640" cy="36926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spcAft>
                <a:spcPts val="800"/>
              </a:spcAft>
              <a:defRPr sz="1100" b="1">
                <a:solidFill>
                  <a:srgbClr val="635BFF"/>
                </a:solidFill>
                <a:latin typeface="Segoe UI"/>
              </a:defRPr>
            </a:pPr>
            <a:r>
              <a:rPr lang="fr-FR" dirty="0"/>
              <a:t>Explicabilité locale</a:t>
            </a:r>
            <a:endParaRPr dirty="0"/>
          </a:p>
          <a:p>
            <a:pPr>
              <a:spcAft>
                <a:spcPts val="800"/>
              </a:spcAft>
              <a:defRPr sz="1200" b="0">
                <a:solidFill>
                  <a:srgbClr val="475569"/>
                </a:solidFill>
                <a:latin typeface="Segoe UI"/>
              </a:defRPr>
            </a:pPr>
            <a:r>
              <a:rPr lang="fr-FR" dirty="0"/>
              <a:t>• SHAP (</a:t>
            </a:r>
            <a:r>
              <a:rPr lang="fr-FR" dirty="0" err="1"/>
              <a:t>TreeExplainer</a:t>
            </a:r>
            <a:r>
              <a:rPr lang="fr-FR" dirty="0"/>
              <a:t>) : Calculé en direct pour chaque transaction. </a:t>
            </a:r>
          </a:p>
          <a:p>
            <a:pPr>
              <a:spcAft>
                <a:spcPts val="800"/>
              </a:spcAft>
              <a:defRPr sz="1200" b="0">
                <a:solidFill>
                  <a:srgbClr val="475569"/>
                </a:solidFill>
                <a:latin typeface="Segoe UI"/>
              </a:defRPr>
            </a:pPr>
            <a:r>
              <a:rPr lang="fr-FR" dirty="0"/>
              <a:t>• </a:t>
            </a:r>
            <a:r>
              <a:rPr lang="fr-FR" dirty="0" err="1"/>
              <a:t>Shap</a:t>
            </a:r>
            <a:r>
              <a:rPr lang="fr-FR" dirty="0"/>
              <a:t> values enregistrées en base </a:t>
            </a:r>
            <a:r>
              <a:rPr lang="fr-FR" dirty="0" err="1"/>
              <a:t>Postgres</a:t>
            </a:r>
            <a:r>
              <a:rPr lang="fr-FR" dirty="0"/>
              <a:t>  pour les transactions frauduleuses </a:t>
            </a:r>
            <a:r>
              <a:rPr lang="fr-FR" b="1" dirty="0"/>
              <a:t>uniquement </a:t>
            </a:r>
            <a:r>
              <a:rPr lang="fr-FR" dirty="0"/>
              <a:t>(limite coûts de stockage)</a:t>
            </a:r>
            <a:endParaRPr lang="fr-FR" b="1" dirty="0"/>
          </a:p>
          <a:p>
            <a:pPr>
              <a:spcAft>
                <a:spcPts val="800"/>
              </a:spcAft>
              <a:defRPr sz="1200" b="0">
                <a:solidFill>
                  <a:srgbClr val="475569"/>
                </a:solidFill>
                <a:latin typeface="Segoe UI"/>
              </a:defRPr>
            </a:pPr>
            <a:r>
              <a:rPr lang="fr-FR" dirty="0"/>
              <a:t>• Permet de comprendre pourquoi une transaction a été jugée suspecte (transparence exigée par le RGPD et le régulateur bancaire).</a:t>
            </a:r>
          </a:p>
          <a:p>
            <a:pPr>
              <a:spcAft>
                <a:spcPts val="0"/>
              </a:spcAft>
              <a:defRPr sz="1200" b="0">
                <a:solidFill>
                  <a:srgbClr val="475569"/>
                </a:solidFill>
                <a:latin typeface="Segoe UI"/>
              </a:defRPr>
            </a:pPr>
            <a:endParaRPr lang="fr-FR" dirty="0"/>
          </a:p>
          <a:p>
            <a:pPr>
              <a:spcAft>
                <a:spcPts val="0"/>
              </a:spcAft>
              <a:defRPr sz="1200" b="0">
                <a:solidFill>
                  <a:srgbClr val="475569"/>
                </a:solidFill>
                <a:latin typeface="Segoe UI"/>
              </a:defRPr>
            </a:pPr>
            <a:endParaRPr lang="fr-FR" dirty="0"/>
          </a:p>
          <a:p>
            <a:pPr>
              <a:spcAft>
                <a:spcPts val="0"/>
              </a:spcAft>
              <a:defRPr sz="1200" b="0">
                <a:solidFill>
                  <a:srgbClr val="475569"/>
                </a:solidFill>
                <a:latin typeface="Segoe UI"/>
              </a:defRPr>
            </a:pPr>
            <a:endParaRPr lang="fr-FR" dirty="0"/>
          </a:p>
        </p:txBody>
      </p:sp>
      <p:sp>
        <p:nvSpPr>
          <p:cNvPr id="5" name="Rounded Rectangle 4">
            <a:extLst>
              <a:ext uri="{FF2B5EF4-FFF2-40B4-BE49-F238E27FC236}">
                <a16:creationId xmlns:a16="http://schemas.microsoft.com/office/drawing/2014/main" id="{DB229F9C-A316-E7BD-AD85-1B9140D804F3}"/>
              </a:ext>
            </a:extLst>
          </p:cNvPr>
          <p:cNvSpPr/>
          <p:nvPr/>
        </p:nvSpPr>
        <p:spPr>
          <a:xfrm>
            <a:off x="6157964" y="1612759"/>
            <a:ext cx="5237201" cy="36926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spcAft>
                <a:spcPts val="800"/>
              </a:spcAft>
              <a:defRPr sz="1100" b="1">
                <a:solidFill>
                  <a:srgbClr val="635BFF"/>
                </a:solidFill>
                <a:latin typeface="Segoe UI"/>
              </a:defRPr>
            </a:pPr>
            <a:r>
              <a:rPr lang="fr-FR" dirty="0"/>
              <a:t>Notification temps réel – </a:t>
            </a:r>
            <a:r>
              <a:rPr lang="fr-FR" dirty="0" err="1"/>
              <a:t>Webhooks</a:t>
            </a:r>
            <a:r>
              <a:rPr lang="fr-FR" dirty="0"/>
              <a:t> marchands</a:t>
            </a:r>
          </a:p>
          <a:p>
            <a:pPr>
              <a:spcAft>
                <a:spcPts val="800"/>
              </a:spcAft>
              <a:defRPr sz="1200" b="0">
                <a:solidFill>
                  <a:srgbClr val="475569"/>
                </a:solidFill>
                <a:latin typeface="Segoe UI"/>
              </a:defRPr>
            </a:pPr>
            <a:r>
              <a:rPr lang="fr-FR" dirty="0"/>
              <a:t>• Calcul du temps d'exécution exact (prétraitement + inférence + SHAP).</a:t>
            </a:r>
          </a:p>
          <a:p>
            <a:pPr>
              <a:spcAft>
                <a:spcPts val="800"/>
              </a:spcAft>
              <a:defRPr sz="1200" b="0">
                <a:solidFill>
                  <a:srgbClr val="475569"/>
                </a:solidFill>
                <a:latin typeface="Segoe UI"/>
              </a:defRPr>
            </a:pPr>
            <a:r>
              <a:rPr lang="fr-FR" dirty="0"/>
              <a:t>• Découplage complet : L'API ne bloque pas la réponse client (utilisation des </a:t>
            </a:r>
            <a:r>
              <a:rPr lang="fr-FR" dirty="0" err="1"/>
              <a:t>FastAPI</a:t>
            </a:r>
            <a:r>
              <a:rPr lang="fr-FR" dirty="0"/>
              <a:t> </a:t>
            </a:r>
            <a:r>
              <a:rPr lang="fr-FR" dirty="0" err="1"/>
              <a:t>BackgroundTasks</a:t>
            </a:r>
            <a:r>
              <a:rPr lang="fr-FR" dirty="0"/>
              <a:t>.)</a:t>
            </a:r>
          </a:p>
          <a:p>
            <a:pPr>
              <a:spcAft>
                <a:spcPts val="800"/>
              </a:spcAft>
              <a:defRPr sz="1200" b="0">
                <a:solidFill>
                  <a:srgbClr val="475569"/>
                </a:solidFill>
                <a:latin typeface="Segoe UI"/>
              </a:defRPr>
            </a:pPr>
            <a:r>
              <a:rPr lang="fr-FR" dirty="0"/>
              <a:t>• Envoi immédiat en arrière-plan d'une alerte au serveur du marchand dès qu'une transaction est jugée frauduleuse.</a:t>
            </a:r>
          </a:p>
          <a:p>
            <a:pPr>
              <a:spcAft>
                <a:spcPts val="800"/>
              </a:spcAft>
              <a:defRPr sz="1200" b="0">
                <a:solidFill>
                  <a:srgbClr val="475569"/>
                </a:solidFill>
                <a:latin typeface="Segoe UI"/>
              </a:defRPr>
            </a:pPr>
            <a:r>
              <a:rPr lang="fr-FR" dirty="0"/>
              <a:t>• Moyenne constatée en local : ~8 à 15 ms, largement conforme au SLA (&lt; 100 ms).</a:t>
            </a:r>
          </a:p>
          <a:p>
            <a:pPr>
              <a:spcAft>
                <a:spcPts val="800"/>
              </a:spcAft>
              <a:defRPr sz="1200" b="0">
                <a:solidFill>
                  <a:srgbClr val="475569"/>
                </a:solidFill>
                <a:latin typeface="Segoe UI"/>
              </a:defRPr>
            </a:pPr>
            <a:r>
              <a:rPr lang="fr-FR" dirty="0"/>
              <a:t>• </a:t>
            </a:r>
            <a:r>
              <a:rPr lang="fr-FR" dirty="0" err="1"/>
              <a:t>Webhook</a:t>
            </a:r>
            <a:r>
              <a:rPr lang="fr-FR" dirty="0"/>
              <a:t> marchand dans </a:t>
            </a:r>
            <a:r>
              <a:rPr lang="fr-FR" dirty="0" err="1"/>
              <a:t>fastAPI</a:t>
            </a:r>
            <a:r>
              <a:rPr lang="fr-FR" dirty="0"/>
              <a:t> http://localhost:8001/docs#/default/mock_merchant_webhook_mock_merchant_webhook_post</a:t>
            </a:r>
          </a:p>
          <a:p>
            <a:pPr>
              <a:spcAft>
                <a:spcPts val="800"/>
              </a:spcAft>
              <a:defRPr sz="1200" b="0">
                <a:solidFill>
                  <a:srgbClr val="475569"/>
                </a:solidFill>
                <a:latin typeface="Segoe UI"/>
              </a:defRPr>
            </a:pPr>
            <a:endParaRPr lang="fr-FR" dirty="0"/>
          </a:p>
        </p:txBody>
      </p:sp>
      <p:sp>
        <p:nvSpPr>
          <p:cNvPr id="11" name="TextBox 1">
            <a:extLst>
              <a:ext uri="{FF2B5EF4-FFF2-40B4-BE49-F238E27FC236}">
                <a16:creationId xmlns:a16="http://schemas.microsoft.com/office/drawing/2014/main" id="{2079E33C-12D8-A3EF-AA2B-94A848021DA4}"/>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13" name="Rectangle 12">
            <a:extLst>
              <a:ext uri="{FF2B5EF4-FFF2-40B4-BE49-F238E27FC236}">
                <a16:creationId xmlns:a16="http://schemas.microsoft.com/office/drawing/2014/main" id="{840E7708-86A2-F064-81E1-E0B2E4CE2642}"/>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04081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395A0446-20F8-DE4B-62C4-3030A99565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4EDADB-6F8E-4D99-7FF5-6541F521A6B3}"/>
              </a:ext>
            </a:extLst>
          </p:cNvPr>
          <p:cNvSpPr txBox="1"/>
          <p:nvPr/>
        </p:nvSpPr>
        <p:spPr>
          <a:xfrm>
            <a:off x="731520" y="59436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Observabilité</a:t>
            </a:r>
            <a:endParaRPr dirty="0"/>
          </a:p>
        </p:txBody>
      </p:sp>
      <p:sp>
        <p:nvSpPr>
          <p:cNvPr id="11" name="TextBox 1">
            <a:extLst>
              <a:ext uri="{FF2B5EF4-FFF2-40B4-BE49-F238E27FC236}">
                <a16:creationId xmlns:a16="http://schemas.microsoft.com/office/drawing/2014/main" id="{B5E8DBFE-4F79-4C95-48A4-5F7E70FD4586}"/>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13" name="Rectangle 12">
            <a:extLst>
              <a:ext uri="{FF2B5EF4-FFF2-40B4-BE49-F238E27FC236}">
                <a16:creationId xmlns:a16="http://schemas.microsoft.com/office/drawing/2014/main" id="{C0752D37-A536-6F02-7E48-9F9126857485}"/>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Image 4">
            <a:extLst>
              <a:ext uri="{FF2B5EF4-FFF2-40B4-BE49-F238E27FC236}">
                <a16:creationId xmlns:a16="http://schemas.microsoft.com/office/drawing/2014/main" id="{5A489447-73ED-3885-BD19-BB08A952657C}"/>
              </a:ext>
            </a:extLst>
          </p:cNvPr>
          <p:cNvPicPr>
            <a:picLocks noChangeAspect="1"/>
          </p:cNvPicPr>
          <p:nvPr/>
        </p:nvPicPr>
        <p:blipFill>
          <a:blip r:embed="rId3"/>
          <a:srcRect r="48757"/>
          <a:stretch>
            <a:fillRect/>
          </a:stretch>
        </p:blipFill>
        <p:spPr>
          <a:xfrm>
            <a:off x="632824" y="1122596"/>
            <a:ext cx="4320176" cy="5087060"/>
          </a:xfrm>
          <a:prstGeom prst="rect">
            <a:avLst/>
          </a:prstGeom>
        </p:spPr>
      </p:pic>
    </p:spTree>
    <p:extLst>
      <p:ext uri="{BB962C8B-B14F-4D97-AF65-F5344CB8AC3E}">
        <p14:creationId xmlns:p14="http://schemas.microsoft.com/office/powerpoint/2010/main" val="3491080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EE019191-8A16-E4B7-8BD9-F19F49660B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7209D2-5470-0283-2806-67014CE43015}"/>
              </a:ext>
            </a:extLst>
          </p:cNvPr>
          <p:cNvSpPr txBox="1"/>
          <p:nvPr/>
        </p:nvSpPr>
        <p:spPr>
          <a:xfrm>
            <a:off x="731520" y="59436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Transparence, </a:t>
            </a:r>
            <a:r>
              <a:rPr lang="fr-FR" dirty="0" err="1"/>
              <a:t>webhooks</a:t>
            </a:r>
            <a:r>
              <a:rPr lang="fr-FR" dirty="0"/>
              <a:t> marchands, latence </a:t>
            </a:r>
            <a:endParaRPr dirty="0"/>
          </a:p>
        </p:txBody>
      </p:sp>
      <p:sp>
        <p:nvSpPr>
          <p:cNvPr id="11" name="TextBox 1">
            <a:extLst>
              <a:ext uri="{FF2B5EF4-FFF2-40B4-BE49-F238E27FC236}">
                <a16:creationId xmlns:a16="http://schemas.microsoft.com/office/drawing/2014/main" id="{AA41CDF0-2BCC-B20F-A2E2-2035CBC97CC6}"/>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13" name="Rectangle 12">
            <a:extLst>
              <a:ext uri="{FF2B5EF4-FFF2-40B4-BE49-F238E27FC236}">
                <a16:creationId xmlns:a16="http://schemas.microsoft.com/office/drawing/2014/main" id="{C7D3DCAF-801B-BFEB-4377-AAD89A19858E}"/>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Image 5">
            <a:extLst>
              <a:ext uri="{FF2B5EF4-FFF2-40B4-BE49-F238E27FC236}">
                <a16:creationId xmlns:a16="http://schemas.microsoft.com/office/drawing/2014/main" id="{0B956E26-74B6-2516-F2B4-FE500CC31D18}"/>
              </a:ext>
            </a:extLst>
          </p:cNvPr>
          <p:cNvPicPr>
            <a:picLocks noChangeAspect="1"/>
          </p:cNvPicPr>
          <p:nvPr/>
        </p:nvPicPr>
        <p:blipFill>
          <a:blip r:embed="rId3"/>
          <a:stretch>
            <a:fillRect/>
          </a:stretch>
        </p:blipFill>
        <p:spPr>
          <a:xfrm>
            <a:off x="731520" y="1190625"/>
            <a:ext cx="6653182" cy="3834161"/>
          </a:xfrm>
          <a:prstGeom prst="rect">
            <a:avLst/>
          </a:prstGeom>
        </p:spPr>
      </p:pic>
      <p:pic>
        <p:nvPicPr>
          <p:cNvPr id="8" name="Image 7">
            <a:extLst>
              <a:ext uri="{FF2B5EF4-FFF2-40B4-BE49-F238E27FC236}">
                <a16:creationId xmlns:a16="http://schemas.microsoft.com/office/drawing/2014/main" id="{54221712-9804-AE2E-2CBD-2FB8A3A500F9}"/>
              </a:ext>
            </a:extLst>
          </p:cNvPr>
          <p:cNvPicPr>
            <a:picLocks noChangeAspect="1"/>
          </p:cNvPicPr>
          <p:nvPr/>
        </p:nvPicPr>
        <p:blipFill>
          <a:blip r:embed="rId4"/>
          <a:stretch>
            <a:fillRect/>
          </a:stretch>
        </p:blipFill>
        <p:spPr>
          <a:xfrm>
            <a:off x="5995354" y="1190625"/>
            <a:ext cx="6501446" cy="3779435"/>
          </a:xfrm>
          <a:prstGeom prst="rect">
            <a:avLst/>
          </a:prstGeom>
        </p:spPr>
      </p:pic>
    </p:spTree>
    <p:extLst>
      <p:ext uri="{BB962C8B-B14F-4D97-AF65-F5344CB8AC3E}">
        <p14:creationId xmlns:p14="http://schemas.microsoft.com/office/powerpoint/2010/main" val="1162993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73DDFF6B-69AE-D812-D77E-45F26F1B0E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D823D5-044F-A7FC-3A36-E1C785A06FB7}"/>
              </a:ext>
            </a:extLst>
          </p:cNvPr>
          <p:cNvSpPr txBox="1"/>
          <p:nvPr/>
        </p:nvSpPr>
        <p:spPr>
          <a:xfrm>
            <a:off x="731520" y="59436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Analyses (Pareto sur les 80% de fraudes)</a:t>
            </a:r>
            <a:endParaRPr dirty="0"/>
          </a:p>
        </p:txBody>
      </p:sp>
      <p:sp>
        <p:nvSpPr>
          <p:cNvPr id="11" name="TextBox 1">
            <a:extLst>
              <a:ext uri="{FF2B5EF4-FFF2-40B4-BE49-F238E27FC236}">
                <a16:creationId xmlns:a16="http://schemas.microsoft.com/office/drawing/2014/main" id="{6D3D0DA1-3F7C-D6D5-405E-130E60676F4D}"/>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13" name="Rectangle 12">
            <a:extLst>
              <a:ext uri="{FF2B5EF4-FFF2-40B4-BE49-F238E27FC236}">
                <a16:creationId xmlns:a16="http://schemas.microsoft.com/office/drawing/2014/main" id="{CBAE4E80-7AE5-C9A6-98AC-782972961347}"/>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mage 3">
            <a:extLst>
              <a:ext uri="{FF2B5EF4-FFF2-40B4-BE49-F238E27FC236}">
                <a16:creationId xmlns:a16="http://schemas.microsoft.com/office/drawing/2014/main" id="{BA1D259C-291E-118F-BC6E-4DB43DD5E143}"/>
              </a:ext>
            </a:extLst>
          </p:cNvPr>
          <p:cNvPicPr>
            <a:picLocks noChangeAspect="1"/>
          </p:cNvPicPr>
          <p:nvPr/>
        </p:nvPicPr>
        <p:blipFill>
          <a:blip r:embed="rId3"/>
          <a:stretch>
            <a:fillRect/>
          </a:stretch>
        </p:blipFill>
        <p:spPr>
          <a:xfrm>
            <a:off x="731520" y="1122596"/>
            <a:ext cx="7318368" cy="5063324"/>
          </a:xfrm>
          <a:prstGeom prst="rect">
            <a:avLst/>
          </a:prstGeom>
        </p:spPr>
      </p:pic>
    </p:spTree>
    <p:extLst>
      <p:ext uri="{BB962C8B-B14F-4D97-AF65-F5344CB8AC3E}">
        <p14:creationId xmlns:p14="http://schemas.microsoft.com/office/powerpoint/2010/main" val="3931786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85EBABD3-1CC4-EC39-E931-A67FB774DD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BAD661-C194-7BEB-0304-60634757EB14}"/>
              </a:ext>
            </a:extLst>
          </p:cNvPr>
          <p:cNvSpPr txBox="1"/>
          <p:nvPr/>
        </p:nvSpPr>
        <p:spPr>
          <a:xfrm>
            <a:off x="731520" y="59436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Explicabilité par marchand et par transaction</a:t>
            </a:r>
            <a:endParaRPr dirty="0"/>
          </a:p>
        </p:txBody>
      </p:sp>
      <p:sp>
        <p:nvSpPr>
          <p:cNvPr id="11" name="TextBox 1">
            <a:extLst>
              <a:ext uri="{FF2B5EF4-FFF2-40B4-BE49-F238E27FC236}">
                <a16:creationId xmlns:a16="http://schemas.microsoft.com/office/drawing/2014/main" id="{96903AD1-6086-1CEC-ED3E-C57FDCCBCF52}"/>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ARCHITECTURE</a:t>
            </a:r>
            <a:endParaRPr dirty="0"/>
          </a:p>
        </p:txBody>
      </p:sp>
      <p:sp>
        <p:nvSpPr>
          <p:cNvPr id="13" name="Rectangle 12">
            <a:extLst>
              <a:ext uri="{FF2B5EF4-FFF2-40B4-BE49-F238E27FC236}">
                <a16:creationId xmlns:a16="http://schemas.microsoft.com/office/drawing/2014/main" id="{A6B70F5D-7A77-1998-AE23-BEBFC149ACB6}"/>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Image 4">
            <a:extLst>
              <a:ext uri="{FF2B5EF4-FFF2-40B4-BE49-F238E27FC236}">
                <a16:creationId xmlns:a16="http://schemas.microsoft.com/office/drawing/2014/main" id="{796866DB-FA33-F209-09B4-1139ECB1608B}"/>
              </a:ext>
            </a:extLst>
          </p:cNvPr>
          <p:cNvPicPr>
            <a:picLocks noChangeAspect="1"/>
          </p:cNvPicPr>
          <p:nvPr/>
        </p:nvPicPr>
        <p:blipFill>
          <a:blip r:embed="rId3"/>
          <a:stretch>
            <a:fillRect/>
          </a:stretch>
        </p:blipFill>
        <p:spPr>
          <a:xfrm>
            <a:off x="731520" y="1122596"/>
            <a:ext cx="9288780" cy="5321394"/>
          </a:xfrm>
          <a:prstGeom prst="rect">
            <a:avLst/>
          </a:prstGeom>
        </p:spPr>
      </p:pic>
    </p:spTree>
    <p:extLst>
      <p:ext uri="{BB962C8B-B14F-4D97-AF65-F5344CB8AC3E}">
        <p14:creationId xmlns:p14="http://schemas.microsoft.com/office/powerpoint/2010/main" val="4172024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CCDD7-701F-054F-3583-8AFFA3E7A78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51F4993-3F33-6E54-D4C5-B3B65DD24D0D}"/>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
            <a:extLst>
              <a:ext uri="{FF2B5EF4-FFF2-40B4-BE49-F238E27FC236}">
                <a16:creationId xmlns:a16="http://schemas.microsoft.com/office/drawing/2014/main" id="{6510C479-2317-FAC1-F45E-AF393F3D391E}"/>
              </a:ext>
            </a:extLst>
          </p:cNvPr>
          <p:cNvSpPr txBox="1"/>
          <p:nvPr/>
        </p:nvSpPr>
        <p:spPr>
          <a:xfrm>
            <a:off x="1081668" y="1534408"/>
            <a:ext cx="10332720" cy="1497846"/>
          </a:xfrm>
          <a:prstGeom prst="rect">
            <a:avLst/>
          </a:prstGeom>
          <a:noFill/>
        </p:spPr>
        <p:txBody>
          <a:bodyPr wrap="square" lIns="0" tIns="0" rIns="0" bIns="0">
            <a:spAutoFit/>
          </a:bodyPr>
          <a:lstStyle/>
          <a:p>
            <a:pPr>
              <a:spcAft>
                <a:spcPts val="800"/>
              </a:spcAft>
              <a:defRPr sz="3800" b="1">
                <a:solidFill>
                  <a:srgbClr val="0F172A"/>
                </a:solidFill>
                <a:latin typeface="Segoe UI"/>
              </a:defRPr>
            </a:pPr>
            <a:r>
              <a:rPr lang="fr-FR" sz="2800" dirty="0">
                <a:solidFill>
                  <a:srgbClr val="64748B"/>
                </a:solidFill>
              </a:rPr>
              <a:t>1. Contexte métier &amp; cadrage</a:t>
            </a:r>
          </a:p>
          <a:p>
            <a:pPr>
              <a:spcAft>
                <a:spcPts val="800"/>
              </a:spcAft>
              <a:defRPr sz="3800" b="1">
                <a:solidFill>
                  <a:srgbClr val="0F172A"/>
                </a:solidFill>
                <a:latin typeface="Segoe UI"/>
              </a:defRPr>
            </a:pPr>
            <a:r>
              <a:rPr lang="fr-FR" sz="2800" b="1" dirty="0">
                <a:solidFill>
                  <a:srgbClr val="64748B"/>
                </a:solidFill>
                <a:latin typeface="Segoe UI"/>
              </a:rPr>
              <a:t>2. Architecture </a:t>
            </a:r>
          </a:p>
          <a:p>
            <a:pPr>
              <a:spcAft>
                <a:spcPts val="800"/>
              </a:spcAft>
              <a:defRPr sz="3800" b="1">
                <a:solidFill>
                  <a:srgbClr val="0F172A"/>
                </a:solidFill>
                <a:latin typeface="Segoe UI"/>
              </a:defRPr>
            </a:pPr>
            <a:r>
              <a:rPr lang="fr-FR" sz="2800" dirty="0">
                <a:solidFill>
                  <a:srgbClr val="10B981"/>
                </a:solidFill>
              </a:rPr>
              <a:t>3. Qualité logicielle, CICD &amp; robustesse </a:t>
            </a:r>
          </a:p>
        </p:txBody>
      </p:sp>
    </p:spTree>
    <p:extLst>
      <p:ext uri="{BB962C8B-B14F-4D97-AF65-F5344CB8AC3E}">
        <p14:creationId xmlns:p14="http://schemas.microsoft.com/office/powerpoint/2010/main" val="2265517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 name="Rounded Rectangle 3"/>
          <p:cNvSpPr/>
          <p:nvPr/>
        </p:nvSpPr>
        <p:spPr>
          <a:xfrm>
            <a:off x="731520" y="2185095"/>
            <a:ext cx="3291840" cy="32060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635BFF"/>
                </a:solidFill>
                <a:latin typeface="Segoe UI"/>
              </a:defRPr>
            </a:pPr>
            <a:r>
              <a:rPr lang="fr-FR" dirty="0"/>
              <a:t>Asymétrie des coûts</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 Un Faux Négatif (fraude non détectée) coûte financièrement beaucoup plus cher à la banque qu'un Faux Positif (transaction légitime bloquée temporairement).</a:t>
            </a:r>
            <a:endParaRPr dirty="0"/>
          </a:p>
        </p:txBody>
      </p:sp>
      <p:sp>
        <p:nvSpPr>
          <p:cNvPr id="5" name="Rounded Rectangle 4"/>
          <p:cNvSpPr/>
          <p:nvPr/>
        </p:nvSpPr>
        <p:spPr>
          <a:xfrm>
            <a:off x="4522470" y="2185095"/>
            <a:ext cx="3291840" cy="3206055"/>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10B981"/>
                </a:solidFill>
                <a:latin typeface="Segoe UI"/>
              </a:defRPr>
            </a:pPr>
            <a:r>
              <a:rPr lang="fr-FR" dirty="0"/>
              <a:t>Priorité au Rappel (</a:t>
            </a:r>
            <a:r>
              <a:rPr lang="fr-FR" dirty="0" err="1"/>
              <a:t>Recall</a:t>
            </a:r>
            <a:r>
              <a:rPr lang="fr-FR" dirty="0"/>
              <a:t>)</a:t>
            </a:r>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a:t>
            </a:r>
            <a:r>
              <a:rPr lang="fr-FR" b="1" dirty="0"/>
              <a:t> </a:t>
            </a:r>
            <a:r>
              <a:rPr lang="fr-FR" dirty="0"/>
              <a:t>Le score F2 donne deux fois plus de poids au Rappel qu'à la Précision, pénalisant sévèrement les fraudes manquées. </a:t>
            </a:r>
            <a:endParaRPr dirty="0"/>
          </a:p>
        </p:txBody>
      </p:sp>
      <p:sp>
        <p:nvSpPr>
          <p:cNvPr id="6" name="Rounded Rectangle 5"/>
          <p:cNvSpPr/>
          <p:nvPr/>
        </p:nvSpPr>
        <p:spPr>
          <a:xfrm>
            <a:off x="8168642" y="2177415"/>
            <a:ext cx="3291840" cy="321373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0F172A"/>
                </a:solidFill>
                <a:latin typeface="Segoe UI"/>
              </a:defRPr>
            </a:pPr>
            <a:r>
              <a:rPr lang="fr-FR" dirty="0"/>
              <a:t>Alignement métier</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a:t>
            </a:r>
            <a:r>
              <a:rPr lang="fr-FR" b="1" dirty="0"/>
              <a:t> </a:t>
            </a:r>
            <a:r>
              <a:rPr lang="fr-FR" dirty="0"/>
              <a:t>Contrairement au F1-score (qui cherche un compromis 50/50), le F2-score aligne la performance mathématique du model avec la réalité opérationnelle du risque bancaire</a:t>
            </a:r>
          </a:p>
        </p:txBody>
      </p:sp>
      <p:sp>
        <p:nvSpPr>
          <p:cNvPr id="8" name="TextBox 2">
            <a:extLst>
              <a:ext uri="{FF2B5EF4-FFF2-40B4-BE49-F238E27FC236}">
                <a16:creationId xmlns:a16="http://schemas.microsoft.com/office/drawing/2014/main" id="{F1B559AA-A059-512E-E9B1-E9009F004D3B}"/>
              </a:ext>
            </a:extLst>
          </p:cNvPr>
          <p:cNvSpPr txBox="1"/>
          <p:nvPr/>
        </p:nvSpPr>
        <p:spPr>
          <a:xfrm>
            <a:off x="731520" y="49911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Focus Méthodologique : Pourquoi le score F2 ?</a:t>
            </a:r>
            <a:endParaRPr dirty="0"/>
          </a:p>
        </p:txBody>
      </p:sp>
      <p:sp>
        <p:nvSpPr>
          <p:cNvPr id="12" name="Rectangle 11">
            <a:extLst>
              <a:ext uri="{FF2B5EF4-FFF2-40B4-BE49-F238E27FC236}">
                <a16:creationId xmlns:a16="http://schemas.microsoft.com/office/drawing/2014/main" id="{6BF7EE89-0C4C-FF3A-17C7-B3D42904D316}"/>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Image 13">
            <a:extLst>
              <a:ext uri="{FF2B5EF4-FFF2-40B4-BE49-F238E27FC236}">
                <a16:creationId xmlns:a16="http://schemas.microsoft.com/office/drawing/2014/main" id="{762DF21C-4323-C9C6-5E52-42FE6512BD44}"/>
              </a:ext>
            </a:extLst>
          </p:cNvPr>
          <p:cNvPicPr>
            <a:picLocks noChangeAspect="1"/>
          </p:cNvPicPr>
          <p:nvPr/>
        </p:nvPicPr>
        <p:blipFill>
          <a:blip r:embed="rId3"/>
          <a:stretch>
            <a:fillRect/>
          </a:stretch>
        </p:blipFill>
        <p:spPr>
          <a:xfrm>
            <a:off x="927735" y="1176367"/>
            <a:ext cx="3095625" cy="723900"/>
          </a:xfrm>
          <a:prstGeom prst="rect">
            <a:avLst/>
          </a:prstGeom>
        </p:spPr>
      </p:pic>
      <p:sp>
        <p:nvSpPr>
          <p:cNvPr id="16" name="ZoneTexte 15">
            <a:extLst>
              <a:ext uri="{FF2B5EF4-FFF2-40B4-BE49-F238E27FC236}">
                <a16:creationId xmlns:a16="http://schemas.microsoft.com/office/drawing/2014/main" id="{B0C06874-65B4-0222-B0D2-052981E249B3}"/>
              </a:ext>
            </a:extLst>
          </p:cNvPr>
          <p:cNvSpPr txBox="1"/>
          <p:nvPr/>
        </p:nvSpPr>
        <p:spPr>
          <a:xfrm>
            <a:off x="4298156" y="1605929"/>
            <a:ext cx="6119812" cy="276999"/>
          </a:xfrm>
          <a:prstGeom prst="rect">
            <a:avLst/>
          </a:prstGeom>
          <a:noFill/>
        </p:spPr>
        <p:txBody>
          <a:bodyPr wrap="square">
            <a:spAutoFit/>
          </a:bodyPr>
          <a:lstStyle/>
          <a:p>
            <a:r>
              <a:rPr lang="fr-FR" sz="1200" b="1" i="1" dirty="0"/>
              <a:t> avec β = 2</a:t>
            </a:r>
            <a:endParaRPr lang="fr-FR" dirty="0"/>
          </a:p>
        </p:txBody>
      </p:sp>
      <p:sp>
        <p:nvSpPr>
          <p:cNvPr id="18" name="TextBox 1">
            <a:extLst>
              <a:ext uri="{FF2B5EF4-FFF2-40B4-BE49-F238E27FC236}">
                <a16:creationId xmlns:a16="http://schemas.microsoft.com/office/drawing/2014/main" id="{2A1EDEAF-31D0-455C-107C-5D17DEA2ECC5}"/>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Qualité logicielle, CICD &amp; robustesse </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FB880094-6EE4-1E4D-99A8-B248BF7A2C0A}"/>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3E7BC986-AE5C-0174-0967-8A4CAA9214B8}"/>
              </a:ext>
            </a:extLst>
          </p:cNvPr>
          <p:cNvSpPr/>
          <p:nvPr/>
        </p:nvSpPr>
        <p:spPr>
          <a:xfrm>
            <a:off x="731520" y="994470"/>
            <a:ext cx="3291840" cy="53758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635BFF"/>
                </a:solidFill>
                <a:latin typeface="Segoe UI"/>
              </a:defRPr>
            </a:pPr>
            <a:r>
              <a:rPr lang="fr-FR" dirty="0"/>
              <a:t>PCI-DSS</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 </a:t>
            </a:r>
            <a:r>
              <a:rPr lang="fr-FR" b="1" dirty="0"/>
              <a:t>Obligation :  </a:t>
            </a:r>
            <a:r>
              <a:rPr lang="fr-FR" dirty="0"/>
              <a:t>Protection des données des titulaires de cartes (CHD) et interdiction de stocker ou faire circuler le numéro de carte en clair dans les logs ou les notifications</a:t>
            </a:r>
          </a:p>
          <a:p>
            <a:pPr>
              <a:spcAft>
                <a:spcPts val="800"/>
              </a:spcAft>
              <a:defRPr sz="1200" b="0">
                <a:solidFill>
                  <a:srgbClr val="475569"/>
                </a:solidFill>
                <a:latin typeface="Segoe UI"/>
              </a:defRPr>
            </a:pPr>
            <a:r>
              <a:rPr dirty="0"/>
              <a:t>• Absorption </a:t>
            </a:r>
            <a:r>
              <a:rPr dirty="0" err="1"/>
              <a:t>fluide</a:t>
            </a:r>
            <a:r>
              <a:rPr dirty="0"/>
              <a:t> des charges </a:t>
            </a:r>
            <a:r>
              <a:rPr dirty="0" err="1"/>
              <a:t>transactionnelles</a:t>
            </a:r>
            <a:r>
              <a:rPr dirty="0"/>
              <a:t> de pointe.</a:t>
            </a:r>
          </a:p>
          <a:p>
            <a:pPr>
              <a:spcAft>
                <a:spcPts val="0"/>
              </a:spcAft>
              <a:defRPr sz="1200" b="0">
                <a:solidFill>
                  <a:srgbClr val="475569"/>
                </a:solidFill>
                <a:latin typeface="Segoe UI"/>
              </a:defRPr>
            </a:pPr>
            <a:r>
              <a:rPr lang="fr-FR" dirty="0"/>
              <a:t>• </a:t>
            </a:r>
            <a:r>
              <a:rPr lang="fr-FR" b="1" dirty="0"/>
              <a:t>Implémentation :</a:t>
            </a:r>
            <a:endParaRPr lang="fr-FR" dirty="0"/>
          </a:p>
          <a:p>
            <a:pPr>
              <a:spcAft>
                <a:spcPts val="0"/>
              </a:spcAft>
              <a:defRPr sz="1200" b="0">
                <a:solidFill>
                  <a:srgbClr val="475569"/>
                </a:solidFill>
                <a:latin typeface="Segoe UI"/>
              </a:defRPr>
            </a:pPr>
            <a:r>
              <a:rPr lang="fr-FR" dirty="0"/>
              <a:t>    -Hachage systématique : Les numéros de cartes (</a:t>
            </a:r>
            <a:r>
              <a:rPr lang="fr-FR" dirty="0" err="1"/>
              <a:t>cc_num</a:t>
            </a:r>
            <a:r>
              <a:rPr lang="fr-FR" dirty="0"/>
              <a:t>) sont chiffrés à la volée via un hachage cryptographique SHA-256 fort lors de l'affichage dans l'application et de l'envoi des </a:t>
            </a:r>
            <a:r>
              <a:rPr lang="fr-FR" dirty="0" err="1"/>
              <a:t>webhooks</a:t>
            </a:r>
            <a:r>
              <a:rPr lang="fr-FR" dirty="0"/>
              <a:t> aux marchands.</a:t>
            </a:r>
          </a:p>
          <a:p>
            <a:pPr>
              <a:spcAft>
                <a:spcPts val="0"/>
              </a:spcAft>
              <a:defRPr sz="1200" b="0">
                <a:solidFill>
                  <a:srgbClr val="475569"/>
                </a:solidFill>
                <a:latin typeface="Segoe UI"/>
              </a:defRPr>
            </a:pPr>
            <a:r>
              <a:rPr lang="fr-FR"/>
              <a:t>      - </a:t>
            </a:r>
            <a:r>
              <a:rPr lang="fr-FR" dirty="0"/>
              <a:t>Zéro fuite de données : Aucun numéro de carte en clair n'est écrit dans le cache Redis de suivi, dans les logs système, ou dans les </a:t>
            </a:r>
            <a:r>
              <a:rPr lang="fr-FR" dirty="0" err="1"/>
              <a:t>payloads</a:t>
            </a:r>
            <a:r>
              <a:rPr lang="fr-FR" dirty="0"/>
              <a:t> API.   </a:t>
            </a:r>
          </a:p>
        </p:txBody>
      </p:sp>
      <p:sp>
        <p:nvSpPr>
          <p:cNvPr id="5" name="Rounded Rectangle 4">
            <a:extLst>
              <a:ext uri="{FF2B5EF4-FFF2-40B4-BE49-F238E27FC236}">
                <a16:creationId xmlns:a16="http://schemas.microsoft.com/office/drawing/2014/main" id="{E07F2128-7BB5-46F6-1E90-3D22035D96BC}"/>
              </a:ext>
            </a:extLst>
          </p:cNvPr>
          <p:cNvSpPr/>
          <p:nvPr/>
        </p:nvSpPr>
        <p:spPr>
          <a:xfrm>
            <a:off x="4522470" y="994470"/>
            <a:ext cx="3291840" cy="555117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10B981"/>
                </a:solidFill>
                <a:latin typeface="Segoe UI"/>
              </a:defRPr>
            </a:pPr>
            <a:r>
              <a:rPr lang="fr-FR" dirty="0"/>
              <a:t>Gouvernance </a:t>
            </a:r>
            <a:r>
              <a:rPr lang="fr-FR" dirty="0" err="1"/>
              <a:t>MLOps</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a:t>
            </a:r>
            <a:r>
              <a:rPr lang="fr-FR" b="1" dirty="0"/>
              <a:t> </a:t>
            </a:r>
            <a:r>
              <a:rPr lang="fr-FR" b="1" dirty="0" err="1"/>
              <a:t>Auditabilité</a:t>
            </a:r>
            <a:r>
              <a:rPr lang="fr-FR" b="1" dirty="0"/>
              <a:t> &amp; Reproductibilité </a:t>
            </a:r>
            <a:r>
              <a:rPr lang="fr-FR" dirty="0"/>
              <a:t>: Suivi centralisé (</a:t>
            </a:r>
            <a:r>
              <a:rPr lang="fr-FR" dirty="0" err="1"/>
              <a:t>MLflow</a:t>
            </a:r>
            <a:r>
              <a:rPr lang="fr-FR" dirty="0"/>
              <a:t>) de chaque modèle (code, paramètres, métriques et données associées).</a:t>
            </a:r>
          </a:p>
          <a:p>
            <a:pPr>
              <a:spcAft>
                <a:spcPts val="800"/>
              </a:spcAft>
              <a:defRPr sz="1200" b="0">
                <a:solidFill>
                  <a:srgbClr val="475569"/>
                </a:solidFill>
                <a:latin typeface="Segoe UI"/>
              </a:defRPr>
            </a:pPr>
            <a:r>
              <a:rPr lang="fr-FR" dirty="0"/>
              <a:t> • </a:t>
            </a:r>
            <a:r>
              <a:rPr lang="fr-FR" b="1" dirty="0"/>
              <a:t>Gestion des versions </a:t>
            </a:r>
            <a:r>
              <a:rPr lang="fr-FR" dirty="0"/>
              <a:t>: Registre de modèles unique garantissant que l'API de production interroge toujours la version validée et certifiée.</a:t>
            </a:r>
          </a:p>
          <a:p>
            <a:pPr>
              <a:spcAft>
                <a:spcPts val="800"/>
              </a:spcAft>
              <a:defRPr sz="1200" b="0">
                <a:solidFill>
                  <a:srgbClr val="475569"/>
                </a:solidFill>
                <a:latin typeface="Segoe UI"/>
              </a:defRPr>
            </a:pPr>
            <a:r>
              <a:rPr lang="fr-FR" dirty="0"/>
              <a:t> • </a:t>
            </a:r>
            <a:r>
              <a:rPr lang="fr-FR" b="1" dirty="0"/>
              <a:t>Contrôle de la dérive (Drift) : </a:t>
            </a:r>
            <a:r>
              <a:rPr lang="fr-FR" dirty="0"/>
              <a:t>Audit quotidien automatisé (</a:t>
            </a:r>
            <a:r>
              <a:rPr lang="fr-FR" dirty="0" err="1"/>
              <a:t>Evidently</a:t>
            </a:r>
            <a:r>
              <a:rPr lang="fr-FR" dirty="0"/>
              <a:t>) pour détecter tout décalage entre les données réelles et le modèle.</a:t>
            </a:r>
          </a:p>
          <a:p>
            <a:pPr>
              <a:spcAft>
                <a:spcPts val="800"/>
              </a:spcAft>
              <a:defRPr sz="1200" b="0">
                <a:solidFill>
                  <a:srgbClr val="475569"/>
                </a:solidFill>
                <a:latin typeface="Segoe UI"/>
              </a:defRPr>
            </a:pPr>
            <a:r>
              <a:rPr lang="fr-FR" dirty="0"/>
              <a:t> • </a:t>
            </a:r>
            <a:r>
              <a:rPr lang="fr-FR" b="1" dirty="0"/>
              <a:t>Boucle d'amélioration continue </a:t>
            </a:r>
            <a:r>
              <a:rPr lang="fr-FR" dirty="0"/>
              <a:t>: Réentraînement automatisé (</a:t>
            </a:r>
            <a:r>
              <a:rPr lang="fr-FR" dirty="0" err="1"/>
              <a:t>Optuna</a:t>
            </a:r>
            <a:r>
              <a:rPr lang="fr-FR" dirty="0"/>
              <a:t> + </a:t>
            </a:r>
            <a:r>
              <a:rPr lang="fr-FR" dirty="0" err="1"/>
              <a:t>XGBoost</a:t>
            </a:r>
            <a:r>
              <a:rPr lang="fr-FR" dirty="0"/>
              <a:t>) déclenché sur alerte pour maintenir la performance dans le temps.</a:t>
            </a:r>
            <a:endParaRPr dirty="0"/>
          </a:p>
        </p:txBody>
      </p:sp>
      <p:sp>
        <p:nvSpPr>
          <p:cNvPr id="6" name="Rounded Rectangle 5">
            <a:extLst>
              <a:ext uri="{FF2B5EF4-FFF2-40B4-BE49-F238E27FC236}">
                <a16:creationId xmlns:a16="http://schemas.microsoft.com/office/drawing/2014/main" id="{870B52E1-C9B3-4CB1-6625-10FF0B9D93A3}"/>
              </a:ext>
            </a:extLst>
          </p:cNvPr>
          <p:cNvSpPr/>
          <p:nvPr/>
        </p:nvSpPr>
        <p:spPr>
          <a:xfrm>
            <a:off x="8168642" y="986790"/>
            <a:ext cx="3291840" cy="555117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0F172A"/>
                </a:solidFill>
                <a:latin typeface="Segoe UI"/>
              </a:defRPr>
            </a:pPr>
            <a:r>
              <a:rPr lang="fr-FR" dirty="0"/>
              <a:t>Sécurité</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 </a:t>
            </a:r>
            <a:r>
              <a:rPr lang="fr-FR" b="1" dirty="0"/>
              <a:t>Cryptage des flux </a:t>
            </a:r>
            <a:r>
              <a:rPr lang="fr-FR" dirty="0"/>
              <a:t>: Les échanges externes (accès utilisateurs et notifications marchandes) sont cryptés de bout en bout via le protocole HTTPS (géré par notre passerelle d'accès)</a:t>
            </a:r>
          </a:p>
          <a:p>
            <a:pPr>
              <a:spcAft>
                <a:spcPts val="800"/>
              </a:spcAft>
              <a:defRPr sz="1200" b="0">
                <a:solidFill>
                  <a:srgbClr val="475569"/>
                </a:solidFill>
                <a:latin typeface="Segoe UI"/>
              </a:defRPr>
            </a:pPr>
            <a:r>
              <a:rPr lang="fr-FR" b="1" dirty="0"/>
              <a:t>• Contrôle d'accès</a:t>
            </a:r>
            <a:r>
              <a:rPr lang="fr-FR" dirty="0"/>
              <a:t> : Sécurisation </a:t>
            </a:r>
            <a:r>
              <a:rPr lang="fr-FR" b="1" dirty="0"/>
              <a:t>prévue</a:t>
            </a:r>
            <a:r>
              <a:rPr lang="fr-FR" dirty="0"/>
              <a:t> des </a:t>
            </a:r>
            <a:r>
              <a:rPr lang="fr-FR" dirty="0" err="1"/>
              <a:t>webhooks</a:t>
            </a:r>
            <a:r>
              <a:rPr lang="fr-FR" dirty="0"/>
              <a:t> marchands par signature cryptographique (HMAC) avec secret partagé pour garantir l'authenticité des alertes de fraude.</a:t>
            </a:r>
          </a:p>
          <a:p>
            <a:pPr>
              <a:spcAft>
                <a:spcPts val="800"/>
              </a:spcAft>
              <a:defRPr sz="1200" b="0">
                <a:solidFill>
                  <a:srgbClr val="475569"/>
                </a:solidFill>
                <a:latin typeface="Segoe UI"/>
              </a:defRPr>
            </a:pPr>
            <a:r>
              <a:rPr lang="fr-FR" dirty="0"/>
              <a:t>•  </a:t>
            </a:r>
            <a:r>
              <a:rPr lang="fr-FR" b="1" dirty="0"/>
              <a:t>RGPD &amp; Confidentialité </a:t>
            </a:r>
            <a:r>
              <a:rPr lang="fr-FR" dirty="0"/>
              <a:t>: Limitation stricte des données transmises. Les </a:t>
            </a:r>
            <a:r>
              <a:rPr lang="fr-FR" dirty="0" err="1"/>
              <a:t>webhooks</a:t>
            </a:r>
            <a:r>
              <a:rPr lang="fr-FR" dirty="0"/>
              <a:t> de notification n'embarquent aucune donnée hautement sensible (comme le numéro de carte bancaire complet ou l'identité de l'acheteur), uniquement des jetons de transaction anonymisés et le statut de fraude.</a:t>
            </a:r>
          </a:p>
        </p:txBody>
      </p:sp>
      <p:sp>
        <p:nvSpPr>
          <p:cNvPr id="8" name="TextBox 2">
            <a:extLst>
              <a:ext uri="{FF2B5EF4-FFF2-40B4-BE49-F238E27FC236}">
                <a16:creationId xmlns:a16="http://schemas.microsoft.com/office/drawing/2014/main" id="{D3A07C34-8869-DB6E-F11A-007A4F3557E3}"/>
              </a:ext>
            </a:extLst>
          </p:cNvPr>
          <p:cNvSpPr txBox="1"/>
          <p:nvPr/>
        </p:nvSpPr>
        <p:spPr>
          <a:xfrm>
            <a:off x="731520" y="49911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Conformité Réglementaire &amp; Sécurité (RGPD, AI </a:t>
            </a:r>
            <a:r>
              <a:rPr lang="fr-FR" dirty="0" err="1"/>
              <a:t>Act</a:t>
            </a:r>
            <a:r>
              <a:rPr lang="fr-FR" dirty="0"/>
              <a:t>, PCI-DSS)</a:t>
            </a:r>
            <a:endParaRPr dirty="0"/>
          </a:p>
        </p:txBody>
      </p:sp>
      <p:sp>
        <p:nvSpPr>
          <p:cNvPr id="12" name="Rectangle 11">
            <a:extLst>
              <a:ext uri="{FF2B5EF4-FFF2-40B4-BE49-F238E27FC236}">
                <a16:creationId xmlns:a16="http://schemas.microsoft.com/office/drawing/2014/main" id="{6E5627F3-C2BF-2CB3-1644-30B4499331B6}"/>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1">
            <a:extLst>
              <a:ext uri="{FF2B5EF4-FFF2-40B4-BE49-F238E27FC236}">
                <a16:creationId xmlns:a16="http://schemas.microsoft.com/office/drawing/2014/main" id="{9393DC65-7B01-7AC9-2241-2CE29CFF3448}"/>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Qualité logicielle, CICD &amp; robustesse </a:t>
            </a:r>
            <a:endParaRPr dirty="0"/>
          </a:p>
        </p:txBody>
      </p:sp>
    </p:spTree>
    <p:extLst>
      <p:ext uri="{BB962C8B-B14F-4D97-AF65-F5344CB8AC3E}">
        <p14:creationId xmlns:p14="http://schemas.microsoft.com/office/powerpoint/2010/main" val="325816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8F8EEDEA-E5C6-DA9A-0A55-1C964F13CC33}"/>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3DB3E866-1851-9433-6AAC-272EF202B6C7}"/>
              </a:ext>
            </a:extLst>
          </p:cNvPr>
          <p:cNvSpPr/>
          <p:nvPr/>
        </p:nvSpPr>
        <p:spPr>
          <a:xfrm>
            <a:off x="731520" y="994470"/>
            <a:ext cx="3291840" cy="53758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635BFF"/>
                </a:solidFill>
                <a:latin typeface="Segoe UI"/>
              </a:defRPr>
            </a:pPr>
            <a:r>
              <a:rPr lang="fr-FR" dirty="0"/>
              <a:t>Fiabilité</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 </a:t>
            </a:r>
            <a:r>
              <a:rPr lang="fr-FR" b="1" dirty="0"/>
              <a:t>Ingestion continue sans perte de données</a:t>
            </a:r>
            <a:r>
              <a:rPr lang="fr-FR" dirty="0"/>
              <a:t>, même en cas de panne de base de données.</a:t>
            </a:r>
          </a:p>
          <a:p>
            <a:pPr>
              <a:spcAft>
                <a:spcPts val="800"/>
              </a:spcAft>
              <a:defRPr sz="1200" b="0">
                <a:solidFill>
                  <a:srgbClr val="475569"/>
                </a:solidFill>
                <a:latin typeface="Segoe UI"/>
              </a:defRPr>
            </a:pPr>
            <a:r>
              <a:rPr dirty="0"/>
              <a:t>• Absorption </a:t>
            </a:r>
            <a:r>
              <a:rPr dirty="0" err="1"/>
              <a:t>fluide</a:t>
            </a:r>
            <a:r>
              <a:rPr dirty="0"/>
              <a:t> des charges </a:t>
            </a:r>
            <a:r>
              <a:rPr dirty="0" err="1"/>
              <a:t>transactionnelles</a:t>
            </a:r>
            <a:r>
              <a:rPr dirty="0"/>
              <a:t> de pointe.</a:t>
            </a:r>
          </a:p>
          <a:p>
            <a:pPr>
              <a:spcAft>
                <a:spcPts val="0"/>
              </a:spcAft>
              <a:defRPr sz="1200" b="0">
                <a:solidFill>
                  <a:srgbClr val="475569"/>
                </a:solidFill>
                <a:latin typeface="Segoe UI"/>
              </a:defRPr>
            </a:pPr>
            <a:r>
              <a:rPr lang="fr-FR" dirty="0"/>
              <a:t>• </a:t>
            </a:r>
            <a:r>
              <a:rPr lang="fr-FR" b="1" dirty="0"/>
              <a:t>Tolérance aux pannes &amp; préparation à la haute disponibilité:</a:t>
            </a:r>
            <a:endParaRPr lang="fr-FR" dirty="0"/>
          </a:p>
          <a:p>
            <a:pPr>
              <a:spcAft>
                <a:spcPts val="0"/>
              </a:spcAft>
              <a:defRPr sz="1200" b="0">
                <a:solidFill>
                  <a:srgbClr val="475569"/>
                </a:solidFill>
                <a:latin typeface="Segoe UI"/>
              </a:defRPr>
            </a:pPr>
            <a:r>
              <a:rPr lang="fr-FR" dirty="0"/>
              <a:t>   • L'arrêt d'un composant (ex: Ray ou PostgreSQL) n'entraîne pas la perte des données entrantes, qui restent stockées en toute sécurité dans la queue d’ingestion</a:t>
            </a:r>
          </a:p>
          <a:p>
            <a:pPr>
              <a:spcAft>
                <a:spcPts val="0"/>
              </a:spcAft>
              <a:defRPr sz="1200" b="0">
                <a:solidFill>
                  <a:srgbClr val="475569"/>
                </a:solidFill>
                <a:latin typeface="Segoe UI"/>
              </a:defRPr>
            </a:pPr>
            <a:r>
              <a:rPr lang="fr-FR" dirty="0"/>
              <a:t>   •  </a:t>
            </a:r>
            <a:r>
              <a:rPr lang="fr-FR" b="1" dirty="0"/>
              <a:t>Architecture prête pour le Cloud </a:t>
            </a:r>
            <a:r>
              <a:rPr lang="fr-FR" dirty="0"/>
              <a:t>: Grâce à Docker-compose et au cluster Ray, chaque brique (</a:t>
            </a:r>
            <a:r>
              <a:rPr lang="fr-FR" dirty="0" err="1"/>
              <a:t>Postgres</a:t>
            </a:r>
            <a:r>
              <a:rPr lang="fr-FR" dirty="0"/>
              <a:t>, Ray </a:t>
            </a:r>
            <a:r>
              <a:rPr lang="fr-FR" dirty="0" err="1"/>
              <a:t>Workers</a:t>
            </a:r>
            <a:r>
              <a:rPr lang="fr-FR" dirty="0"/>
              <a:t>, </a:t>
            </a:r>
            <a:r>
              <a:rPr lang="fr-FR" dirty="0" err="1"/>
              <a:t>Airflow</a:t>
            </a:r>
            <a:r>
              <a:rPr lang="fr-FR" dirty="0"/>
              <a:t>) peut être déployée sur des serveurs distincts et répliquée (ex: avec </a:t>
            </a:r>
            <a:r>
              <a:rPr lang="fr-FR" dirty="0" err="1"/>
              <a:t>Kubernetes</a:t>
            </a:r>
            <a:r>
              <a:rPr lang="fr-FR" dirty="0"/>
              <a:t> ou AWS) pour éliminer physiquement tout Single Point Of Failure</a:t>
            </a:r>
          </a:p>
        </p:txBody>
      </p:sp>
      <p:sp>
        <p:nvSpPr>
          <p:cNvPr id="5" name="Rounded Rectangle 4">
            <a:extLst>
              <a:ext uri="{FF2B5EF4-FFF2-40B4-BE49-F238E27FC236}">
                <a16:creationId xmlns:a16="http://schemas.microsoft.com/office/drawing/2014/main" id="{6041327F-E866-6418-D045-DD86EE730ACE}"/>
              </a:ext>
            </a:extLst>
          </p:cNvPr>
          <p:cNvSpPr/>
          <p:nvPr/>
        </p:nvSpPr>
        <p:spPr>
          <a:xfrm>
            <a:off x="4522470" y="994470"/>
            <a:ext cx="3291840" cy="555117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10B981"/>
                </a:solidFill>
                <a:latin typeface="Segoe UI"/>
              </a:defRPr>
            </a:pPr>
            <a:r>
              <a:rPr lang="fr-FR" dirty="0"/>
              <a:t>Gouvernance </a:t>
            </a:r>
            <a:r>
              <a:rPr lang="fr-FR" dirty="0" err="1"/>
              <a:t>MLOps</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a:t>
            </a:r>
            <a:r>
              <a:rPr lang="fr-FR" b="1" dirty="0"/>
              <a:t> </a:t>
            </a:r>
            <a:r>
              <a:rPr lang="fr-FR" b="1" dirty="0" err="1"/>
              <a:t>Auditabilité</a:t>
            </a:r>
            <a:r>
              <a:rPr lang="fr-FR" b="1" dirty="0"/>
              <a:t> &amp; Reproductibilité </a:t>
            </a:r>
            <a:r>
              <a:rPr lang="fr-FR" dirty="0"/>
              <a:t>: Suivi centralisé (</a:t>
            </a:r>
            <a:r>
              <a:rPr lang="fr-FR" dirty="0" err="1"/>
              <a:t>MLflow</a:t>
            </a:r>
            <a:r>
              <a:rPr lang="fr-FR" dirty="0"/>
              <a:t>) de chaque modèle (code, paramètres, métriques et données associées).</a:t>
            </a:r>
          </a:p>
          <a:p>
            <a:pPr>
              <a:spcAft>
                <a:spcPts val="800"/>
              </a:spcAft>
              <a:defRPr sz="1200" b="0">
                <a:solidFill>
                  <a:srgbClr val="475569"/>
                </a:solidFill>
                <a:latin typeface="Segoe UI"/>
              </a:defRPr>
            </a:pPr>
            <a:r>
              <a:rPr lang="fr-FR" dirty="0"/>
              <a:t> • </a:t>
            </a:r>
            <a:r>
              <a:rPr lang="fr-FR" b="1" dirty="0"/>
              <a:t>Gestion des versions </a:t>
            </a:r>
            <a:r>
              <a:rPr lang="fr-FR" dirty="0"/>
              <a:t>: Registre de modèles unique garantissant que l'API de production interroge toujours la version validée et certifiée.</a:t>
            </a:r>
          </a:p>
          <a:p>
            <a:pPr>
              <a:spcAft>
                <a:spcPts val="800"/>
              </a:spcAft>
              <a:defRPr sz="1200" b="0">
                <a:solidFill>
                  <a:srgbClr val="475569"/>
                </a:solidFill>
                <a:latin typeface="Segoe UI"/>
              </a:defRPr>
            </a:pPr>
            <a:r>
              <a:rPr lang="fr-FR" dirty="0"/>
              <a:t> • </a:t>
            </a:r>
            <a:r>
              <a:rPr lang="fr-FR" b="1" dirty="0"/>
              <a:t>Contrôle de la dérive (Drift) : </a:t>
            </a:r>
            <a:r>
              <a:rPr lang="fr-FR" dirty="0"/>
              <a:t>Audit quotidien automatisé (</a:t>
            </a:r>
            <a:r>
              <a:rPr lang="fr-FR" dirty="0" err="1"/>
              <a:t>Evidently</a:t>
            </a:r>
            <a:r>
              <a:rPr lang="fr-FR" dirty="0"/>
              <a:t>) pour détecter tout décalage entre les données réelles et le modèle.</a:t>
            </a:r>
          </a:p>
          <a:p>
            <a:pPr>
              <a:spcAft>
                <a:spcPts val="800"/>
              </a:spcAft>
              <a:defRPr sz="1200" b="0">
                <a:solidFill>
                  <a:srgbClr val="475569"/>
                </a:solidFill>
                <a:latin typeface="Segoe UI"/>
              </a:defRPr>
            </a:pPr>
            <a:r>
              <a:rPr lang="fr-FR" dirty="0"/>
              <a:t> • </a:t>
            </a:r>
            <a:r>
              <a:rPr lang="fr-FR" b="1" dirty="0"/>
              <a:t>Boucle d'amélioration continue </a:t>
            </a:r>
            <a:r>
              <a:rPr lang="fr-FR" dirty="0"/>
              <a:t>: Réentraînement automatisé (</a:t>
            </a:r>
            <a:r>
              <a:rPr lang="fr-FR" dirty="0" err="1"/>
              <a:t>Optuna</a:t>
            </a:r>
            <a:r>
              <a:rPr lang="fr-FR" dirty="0"/>
              <a:t> + </a:t>
            </a:r>
            <a:r>
              <a:rPr lang="fr-FR" dirty="0" err="1"/>
              <a:t>XGBoost</a:t>
            </a:r>
            <a:r>
              <a:rPr lang="fr-FR" dirty="0"/>
              <a:t>) déclenché sur alerte pour maintenir la performance dans le temps.</a:t>
            </a:r>
            <a:endParaRPr dirty="0"/>
          </a:p>
        </p:txBody>
      </p:sp>
      <p:sp>
        <p:nvSpPr>
          <p:cNvPr id="6" name="Rounded Rectangle 5">
            <a:extLst>
              <a:ext uri="{FF2B5EF4-FFF2-40B4-BE49-F238E27FC236}">
                <a16:creationId xmlns:a16="http://schemas.microsoft.com/office/drawing/2014/main" id="{5E9881E7-9817-93B1-6CE7-031556A22B0F}"/>
              </a:ext>
            </a:extLst>
          </p:cNvPr>
          <p:cNvSpPr/>
          <p:nvPr/>
        </p:nvSpPr>
        <p:spPr>
          <a:xfrm>
            <a:off x="8168642" y="986790"/>
            <a:ext cx="3291840" cy="555117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0F172A"/>
                </a:solidFill>
                <a:latin typeface="Segoe UI"/>
              </a:defRPr>
            </a:pPr>
            <a:r>
              <a:rPr lang="fr-FR" dirty="0"/>
              <a:t>Sécurité</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 </a:t>
            </a:r>
            <a:r>
              <a:rPr lang="fr-FR" b="1" dirty="0"/>
              <a:t>Cryptage des flux </a:t>
            </a:r>
            <a:r>
              <a:rPr lang="fr-FR" dirty="0"/>
              <a:t>: Les échanges externes (accès utilisateurs et notifications marchandes) sont cryptés de bout en bout via le protocole HTTPS (géré par notre passerelle d'accès)</a:t>
            </a:r>
          </a:p>
          <a:p>
            <a:pPr>
              <a:spcAft>
                <a:spcPts val="800"/>
              </a:spcAft>
              <a:defRPr sz="1200" b="0">
                <a:solidFill>
                  <a:srgbClr val="475569"/>
                </a:solidFill>
                <a:latin typeface="Segoe UI"/>
              </a:defRPr>
            </a:pPr>
            <a:r>
              <a:rPr lang="fr-FR" b="1" dirty="0"/>
              <a:t>• Contrôle d'accès</a:t>
            </a:r>
            <a:r>
              <a:rPr lang="fr-FR" dirty="0"/>
              <a:t> : Sécurisation </a:t>
            </a:r>
            <a:r>
              <a:rPr lang="fr-FR" b="1" dirty="0"/>
              <a:t>prévue</a:t>
            </a:r>
            <a:r>
              <a:rPr lang="fr-FR" dirty="0"/>
              <a:t> des </a:t>
            </a:r>
            <a:r>
              <a:rPr lang="fr-FR" dirty="0" err="1"/>
              <a:t>webhooks</a:t>
            </a:r>
            <a:r>
              <a:rPr lang="fr-FR" dirty="0"/>
              <a:t> marchands par signature cryptographique (HMAC) avec secret partagé pour garantir l'authenticité des alertes de fraude.</a:t>
            </a:r>
          </a:p>
          <a:p>
            <a:pPr>
              <a:spcAft>
                <a:spcPts val="800"/>
              </a:spcAft>
              <a:defRPr sz="1200" b="0">
                <a:solidFill>
                  <a:srgbClr val="475569"/>
                </a:solidFill>
                <a:latin typeface="Segoe UI"/>
              </a:defRPr>
            </a:pPr>
            <a:r>
              <a:rPr lang="fr-FR" dirty="0"/>
              <a:t>•  </a:t>
            </a:r>
            <a:r>
              <a:rPr lang="fr-FR" b="1" dirty="0"/>
              <a:t>RGPD &amp; Confidentialité </a:t>
            </a:r>
            <a:r>
              <a:rPr lang="fr-FR" dirty="0"/>
              <a:t>: Limitation stricte des données transmises. Les </a:t>
            </a:r>
            <a:r>
              <a:rPr lang="fr-FR" dirty="0" err="1"/>
              <a:t>webhooks</a:t>
            </a:r>
            <a:r>
              <a:rPr lang="fr-FR" dirty="0"/>
              <a:t> de notification n'embarquent aucune donnée hautement sensible (comme le numéro de carte bancaire complet ou l'identité de l'acheteur), uniquement des jetons de transaction anonymisés et le statut de fraude.</a:t>
            </a:r>
          </a:p>
        </p:txBody>
      </p:sp>
      <p:sp>
        <p:nvSpPr>
          <p:cNvPr id="8" name="TextBox 2">
            <a:extLst>
              <a:ext uri="{FF2B5EF4-FFF2-40B4-BE49-F238E27FC236}">
                <a16:creationId xmlns:a16="http://schemas.microsoft.com/office/drawing/2014/main" id="{720C1452-CE83-3272-E34F-B1FDC92255D5}"/>
              </a:ext>
            </a:extLst>
          </p:cNvPr>
          <p:cNvSpPr txBox="1"/>
          <p:nvPr/>
        </p:nvSpPr>
        <p:spPr>
          <a:xfrm>
            <a:off x="731520" y="49911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Conception sécurisée et résilience </a:t>
            </a:r>
            <a:r>
              <a:rPr lang="fr-FR" dirty="0" err="1"/>
              <a:t>MLOps</a:t>
            </a:r>
            <a:endParaRPr dirty="0"/>
          </a:p>
        </p:txBody>
      </p:sp>
      <p:sp>
        <p:nvSpPr>
          <p:cNvPr id="12" name="Rectangle 11">
            <a:extLst>
              <a:ext uri="{FF2B5EF4-FFF2-40B4-BE49-F238E27FC236}">
                <a16:creationId xmlns:a16="http://schemas.microsoft.com/office/drawing/2014/main" id="{73885B3B-1FF0-7570-BCA0-127D472291AF}"/>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1">
            <a:extLst>
              <a:ext uri="{FF2B5EF4-FFF2-40B4-BE49-F238E27FC236}">
                <a16:creationId xmlns:a16="http://schemas.microsoft.com/office/drawing/2014/main" id="{0574E3FF-E7CA-0FB6-AEC6-FB41D2F3FF69}"/>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Qualité logicielle, CICD &amp; robustesse </a:t>
            </a:r>
            <a:endParaRPr dirty="0"/>
          </a:p>
        </p:txBody>
      </p:sp>
    </p:spTree>
    <p:extLst>
      <p:ext uri="{BB962C8B-B14F-4D97-AF65-F5344CB8AC3E}">
        <p14:creationId xmlns:p14="http://schemas.microsoft.com/office/powerpoint/2010/main" val="1739148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A70A1CC2-24FD-CEAB-C2CF-C69430A9A1F5}"/>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0CF0B1F4-6317-BFF2-6341-A9C1FDCDB4B8}"/>
              </a:ext>
            </a:extLst>
          </p:cNvPr>
          <p:cNvSpPr/>
          <p:nvPr/>
        </p:nvSpPr>
        <p:spPr>
          <a:xfrm>
            <a:off x="731520" y="1664420"/>
            <a:ext cx="3291840" cy="3220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635BFF"/>
                </a:solidFill>
                <a:latin typeface="Segoe UI"/>
              </a:defRPr>
            </a:pPr>
            <a:r>
              <a:rPr lang="fr-FR" dirty="0"/>
              <a:t>CI</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 Validation automatisée du code via des linters et formateurs (.</a:t>
            </a:r>
            <a:r>
              <a:rPr lang="fr-FR" dirty="0" err="1"/>
              <a:t>ruff.toml</a:t>
            </a:r>
            <a:r>
              <a:rPr lang="fr-FR" dirty="0"/>
              <a:t>) pour garantir la qualité et la propreté du code.</a:t>
            </a:r>
          </a:p>
          <a:p>
            <a:pPr>
              <a:spcAft>
                <a:spcPts val="800"/>
              </a:spcAft>
              <a:defRPr sz="1200" b="0">
                <a:solidFill>
                  <a:srgbClr val="475569"/>
                </a:solidFill>
                <a:latin typeface="Segoe UI"/>
              </a:defRPr>
            </a:pPr>
            <a:r>
              <a:rPr lang="fr-FR" dirty="0"/>
              <a:t>• Tests unitaires et d'intégration automatisés avec tests pour valider les étapes critiques (ex: calculs de </a:t>
            </a:r>
            <a:r>
              <a:rPr lang="fr-FR" dirty="0" err="1"/>
              <a:t>features</a:t>
            </a:r>
            <a:r>
              <a:rPr lang="fr-FR" dirty="0"/>
              <a:t>, </a:t>
            </a:r>
            <a:r>
              <a:rPr lang="fr-FR" dirty="0" err="1"/>
              <a:t>preprocessing</a:t>
            </a:r>
            <a:r>
              <a:rPr lang="fr-FR" dirty="0"/>
              <a:t>, intégrité des requêtes SQL).</a:t>
            </a:r>
          </a:p>
        </p:txBody>
      </p:sp>
      <p:sp>
        <p:nvSpPr>
          <p:cNvPr id="5" name="Rounded Rectangle 4">
            <a:extLst>
              <a:ext uri="{FF2B5EF4-FFF2-40B4-BE49-F238E27FC236}">
                <a16:creationId xmlns:a16="http://schemas.microsoft.com/office/drawing/2014/main" id="{06AD5EAA-EE5C-E5CE-897A-1FA2F0664241}"/>
              </a:ext>
            </a:extLst>
          </p:cNvPr>
          <p:cNvSpPr/>
          <p:nvPr/>
        </p:nvSpPr>
        <p:spPr>
          <a:xfrm>
            <a:off x="4522470" y="1664420"/>
            <a:ext cx="3291840" cy="33953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10B981"/>
                </a:solidFill>
                <a:latin typeface="Segoe UI"/>
              </a:defRPr>
            </a:pPr>
            <a:r>
              <a:rPr lang="fr-FR" dirty="0"/>
              <a:t>CD</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 Conteneurisation complète avec Docker et Docker-compose pour garantir la portabilité stricte entre les environnements (Développement, </a:t>
            </a:r>
            <a:r>
              <a:rPr lang="fr-FR" dirty="0" err="1"/>
              <a:t>Staging</a:t>
            </a:r>
            <a:r>
              <a:rPr lang="fr-FR" dirty="0"/>
              <a:t>, Production).</a:t>
            </a:r>
            <a:endParaRPr dirty="0"/>
          </a:p>
        </p:txBody>
      </p:sp>
      <p:sp>
        <p:nvSpPr>
          <p:cNvPr id="6" name="Rounded Rectangle 5">
            <a:extLst>
              <a:ext uri="{FF2B5EF4-FFF2-40B4-BE49-F238E27FC236}">
                <a16:creationId xmlns:a16="http://schemas.microsoft.com/office/drawing/2014/main" id="{D38CF62A-8D03-B18C-C349-9F2FAF8E4474}"/>
              </a:ext>
            </a:extLst>
          </p:cNvPr>
          <p:cNvSpPr/>
          <p:nvPr/>
        </p:nvSpPr>
        <p:spPr>
          <a:xfrm>
            <a:off x="8168642" y="1664420"/>
            <a:ext cx="3291840" cy="3387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200"/>
              </a:spcAft>
              <a:defRPr sz="2800" b="1">
                <a:solidFill>
                  <a:srgbClr val="0F172A"/>
                </a:solidFill>
                <a:latin typeface="Segoe UI"/>
              </a:defRPr>
            </a:pPr>
            <a:r>
              <a:rPr lang="fr-FR" dirty="0"/>
              <a:t>CT</a:t>
            </a:r>
            <a:endParaRPr dirty="0"/>
          </a:p>
          <a:p>
            <a:pPr>
              <a:spcAft>
                <a:spcPts val="800"/>
              </a:spcAft>
              <a:defRPr sz="1200" b="0">
                <a:solidFill>
                  <a:srgbClr val="475569"/>
                </a:solidFill>
                <a:latin typeface="Segoe UI"/>
              </a:defRPr>
            </a:pPr>
            <a:endParaRPr lang="fr-FR" dirty="0"/>
          </a:p>
          <a:p>
            <a:pPr>
              <a:spcAft>
                <a:spcPts val="800"/>
              </a:spcAft>
              <a:defRPr sz="1200" b="0">
                <a:solidFill>
                  <a:srgbClr val="475569"/>
                </a:solidFill>
                <a:latin typeface="Segoe UI"/>
              </a:defRPr>
            </a:pPr>
            <a:r>
              <a:rPr lang="fr-FR" dirty="0"/>
              <a:t>• Automatisation de la boucle de réentraînement via </a:t>
            </a:r>
            <a:r>
              <a:rPr lang="fr-FR" dirty="0" err="1"/>
              <a:t>Airflow</a:t>
            </a:r>
            <a:r>
              <a:rPr lang="fr-FR" dirty="0"/>
              <a:t> et Ray en cas de dérive des données (Data Drift détecté par </a:t>
            </a:r>
            <a:r>
              <a:rPr lang="fr-FR" dirty="0" err="1"/>
              <a:t>Evidently</a:t>
            </a:r>
            <a:r>
              <a:rPr lang="fr-FR" dirty="0"/>
              <a:t>).</a:t>
            </a:r>
          </a:p>
        </p:txBody>
      </p:sp>
      <p:sp>
        <p:nvSpPr>
          <p:cNvPr id="8" name="TextBox 2">
            <a:extLst>
              <a:ext uri="{FF2B5EF4-FFF2-40B4-BE49-F238E27FC236}">
                <a16:creationId xmlns:a16="http://schemas.microsoft.com/office/drawing/2014/main" id="{A290FE39-9B79-97B8-8E6E-38070C898182}"/>
              </a:ext>
            </a:extLst>
          </p:cNvPr>
          <p:cNvSpPr txBox="1"/>
          <p:nvPr/>
        </p:nvSpPr>
        <p:spPr>
          <a:xfrm>
            <a:off x="731520" y="49911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Intégration &amp; Déploiement Continus (CI/CD/CT)</a:t>
            </a:r>
            <a:endParaRPr dirty="0"/>
          </a:p>
        </p:txBody>
      </p:sp>
      <p:sp>
        <p:nvSpPr>
          <p:cNvPr id="10" name="TextBox 1">
            <a:extLst>
              <a:ext uri="{FF2B5EF4-FFF2-40B4-BE49-F238E27FC236}">
                <a16:creationId xmlns:a16="http://schemas.microsoft.com/office/drawing/2014/main" id="{77C648A9-A5C7-A38B-720A-EC7C828B72C1}"/>
              </a:ext>
            </a:extLst>
          </p:cNvPr>
          <p:cNvSpPr txBox="1"/>
          <p:nvPr/>
        </p:nvSpPr>
        <p:spPr>
          <a:xfrm>
            <a:off x="731520" y="320040"/>
            <a:ext cx="10698480" cy="146194"/>
          </a:xfrm>
          <a:prstGeom prst="rect">
            <a:avLst/>
          </a:prstGeom>
          <a:noFill/>
        </p:spPr>
        <p:txBody>
          <a:bodyPr wrap="square" lIns="0" tIns="0" rIns="0" bIns="0">
            <a:spAutoFit/>
          </a:bodyPr>
          <a:lstStyle/>
          <a:p>
            <a:pPr>
              <a:defRPr sz="950" b="1">
                <a:solidFill>
                  <a:srgbClr val="635BFF"/>
                </a:solidFill>
                <a:latin typeface="Segoe UI"/>
              </a:defRPr>
            </a:pPr>
            <a:r>
              <a:rPr lang="fr-FR" dirty="0"/>
              <a:t>2. Qualité logicielle, CICD &amp; robustesse </a:t>
            </a:r>
            <a:endParaRPr dirty="0"/>
          </a:p>
        </p:txBody>
      </p:sp>
      <p:sp>
        <p:nvSpPr>
          <p:cNvPr id="12" name="Rectangle 11">
            <a:extLst>
              <a:ext uri="{FF2B5EF4-FFF2-40B4-BE49-F238E27FC236}">
                <a16:creationId xmlns:a16="http://schemas.microsoft.com/office/drawing/2014/main" id="{3F5C61A7-9D9C-DF53-DB64-1FF031E30AA5}"/>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985478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49BCF289-E4F0-A5AF-B312-80DE441F6925}"/>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BB31810A-C1F0-65C7-E497-ACABC0CAB11A}"/>
              </a:ext>
            </a:extLst>
          </p:cNvPr>
          <p:cNvSpPr/>
          <p:nvPr/>
        </p:nvSpPr>
        <p:spPr>
          <a:xfrm>
            <a:off x="731520" y="1435819"/>
            <a:ext cx="10917555" cy="3220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spcAft>
                <a:spcPts val="800"/>
              </a:spcAft>
              <a:defRPr sz="1200" b="0">
                <a:solidFill>
                  <a:srgbClr val="475569"/>
                </a:solidFill>
                <a:latin typeface="Segoe UI"/>
              </a:defRPr>
            </a:pPr>
            <a:r>
              <a:rPr lang="fr-FR" dirty="0"/>
              <a:t>• </a:t>
            </a:r>
            <a:r>
              <a:rPr lang="fr-FR" dirty="0" err="1"/>
              <a:t>FastApi</a:t>
            </a:r>
            <a:r>
              <a:rPr lang="fr-FR" dirty="0"/>
              <a:t> : http://localhost:8001/docs#/</a:t>
            </a:r>
          </a:p>
          <a:p>
            <a:pPr>
              <a:spcAft>
                <a:spcPts val="800"/>
              </a:spcAft>
              <a:defRPr sz="1200" b="0">
                <a:solidFill>
                  <a:srgbClr val="475569"/>
                </a:solidFill>
                <a:latin typeface="Segoe UI"/>
              </a:defRPr>
            </a:pPr>
            <a:r>
              <a:rPr lang="fr-FR" dirty="0"/>
              <a:t>• Dashboard : </a:t>
            </a:r>
            <a:r>
              <a:rPr lang="fr-FR" dirty="0">
                <a:hlinkClick r:id="rId3"/>
              </a:rPr>
              <a:t>https://fraud-detection.ngrok.app/</a:t>
            </a:r>
            <a:endParaRPr lang="fr-FR" dirty="0"/>
          </a:p>
          <a:p>
            <a:pPr>
              <a:spcAft>
                <a:spcPts val="800"/>
              </a:spcAft>
              <a:defRPr sz="1200" b="0">
                <a:solidFill>
                  <a:srgbClr val="475569"/>
                </a:solidFill>
                <a:latin typeface="Segoe UI"/>
              </a:defRPr>
            </a:pPr>
            <a:r>
              <a:rPr lang="fr-FR" dirty="0"/>
              <a:t>• </a:t>
            </a:r>
            <a:r>
              <a:rPr lang="fr-FR" dirty="0" err="1"/>
              <a:t>Airflow</a:t>
            </a:r>
            <a:r>
              <a:rPr lang="fr-FR" dirty="0"/>
              <a:t> : </a:t>
            </a:r>
            <a:r>
              <a:rPr lang="fr-FR" dirty="0">
                <a:hlinkClick r:id="rId4"/>
              </a:rPr>
              <a:t>http://localhost:8082/</a:t>
            </a:r>
            <a:endParaRPr lang="fr-FR" dirty="0"/>
          </a:p>
          <a:p>
            <a:pPr>
              <a:spcAft>
                <a:spcPts val="800"/>
              </a:spcAft>
              <a:defRPr sz="1200" b="0">
                <a:solidFill>
                  <a:srgbClr val="475569"/>
                </a:solidFill>
                <a:latin typeface="Segoe UI"/>
              </a:defRPr>
            </a:pPr>
            <a:r>
              <a:rPr lang="fr-FR" dirty="0"/>
              <a:t>•  </a:t>
            </a:r>
            <a:r>
              <a:rPr lang="fr-FR" dirty="0" err="1"/>
              <a:t>MLFlow</a:t>
            </a:r>
            <a:r>
              <a:rPr lang="fr-FR" dirty="0"/>
              <a:t> : </a:t>
            </a:r>
            <a:r>
              <a:rPr lang="fr-FR" dirty="0">
                <a:hlinkClick r:id="rId5"/>
              </a:rPr>
              <a:t>http://127.0.0.1:5001/#/</a:t>
            </a:r>
            <a:endParaRPr lang="fr-FR" dirty="0"/>
          </a:p>
          <a:p>
            <a:pPr>
              <a:spcAft>
                <a:spcPts val="800"/>
              </a:spcAft>
              <a:defRPr sz="1200" b="0">
                <a:solidFill>
                  <a:srgbClr val="475569"/>
                </a:solidFill>
                <a:latin typeface="Segoe UI"/>
              </a:defRPr>
            </a:pPr>
            <a:r>
              <a:rPr lang="fr-FR" dirty="0"/>
              <a:t>Batch ingestion : </a:t>
            </a:r>
            <a:r>
              <a:rPr lang="fr-FR" dirty="0">
                <a:hlinkClick r:id="rId6"/>
              </a:rPr>
              <a:t>lien de </a:t>
            </a:r>
            <a:r>
              <a:rPr lang="fr-FR" dirty="0" err="1">
                <a:hlinkClick r:id="rId6"/>
              </a:rPr>
              <a:t>demo</a:t>
            </a:r>
            <a:endParaRPr lang="fr-FR" dirty="0"/>
          </a:p>
          <a:p>
            <a:pPr>
              <a:spcAft>
                <a:spcPts val="800"/>
              </a:spcAft>
              <a:defRPr sz="1200" b="0">
                <a:solidFill>
                  <a:srgbClr val="475569"/>
                </a:solidFill>
                <a:latin typeface="Segoe UI"/>
              </a:defRPr>
            </a:pPr>
            <a:r>
              <a:rPr lang="fr-FR" dirty="0"/>
              <a:t>https://drive.google.com/file/d/1w0A6XtAlBXip9RwaOSHs-L9cPTOmzCM_/view?usp=sharing</a:t>
            </a:r>
          </a:p>
        </p:txBody>
      </p:sp>
      <p:sp>
        <p:nvSpPr>
          <p:cNvPr id="8" name="TextBox 2">
            <a:extLst>
              <a:ext uri="{FF2B5EF4-FFF2-40B4-BE49-F238E27FC236}">
                <a16:creationId xmlns:a16="http://schemas.microsoft.com/office/drawing/2014/main" id="{F3AA4122-2B1E-1C58-0283-0D05710DB8DC}"/>
              </a:ext>
            </a:extLst>
          </p:cNvPr>
          <p:cNvSpPr txBox="1"/>
          <p:nvPr/>
        </p:nvSpPr>
        <p:spPr>
          <a:xfrm>
            <a:off x="731520" y="422910"/>
            <a:ext cx="10698480" cy="400110"/>
          </a:xfrm>
          <a:prstGeom prst="rect">
            <a:avLst/>
          </a:prstGeom>
          <a:noFill/>
        </p:spPr>
        <p:txBody>
          <a:bodyPr wrap="square" lIns="0" tIns="0" rIns="0" bIns="0">
            <a:spAutoFit/>
          </a:bodyPr>
          <a:lstStyle/>
          <a:p>
            <a:pPr>
              <a:defRPr sz="2600" b="1">
                <a:solidFill>
                  <a:srgbClr val="0F172A"/>
                </a:solidFill>
                <a:latin typeface="Segoe UI"/>
              </a:defRPr>
            </a:pPr>
            <a:r>
              <a:rPr lang="fr-FR" dirty="0"/>
              <a:t>Liens &amp; </a:t>
            </a:r>
            <a:r>
              <a:rPr lang="fr-FR" dirty="0" err="1"/>
              <a:t>demo</a:t>
            </a:r>
            <a:endParaRPr dirty="0"/>
          </a:p>
        </p:txBody>
      </p:sp>
      <p:sp>
        <p:nvSpPr>
          <p:cNvPr id="12" name="Rectangle 11">
            <a:extLst>
              <a:ext uri="{FF2B5EF4-FFF2-40B4-BE49-F238E27FC236}">
                <a16:creationId xmlns:a16="http://schemas.microsoft.com/office/drawing/2014/main" id="{DE72C134-2B5A-1A02-D934-969CDFD881E2}"/>
              </a:ext>
            </a:extLst>
          </p:cNvPr>
          <p:cNvSpPr/>
          <p:nvPr/>
        </p:nvSpPr>
        <p:spPr>
          <a:xfrm>
            <a:off x="0" y="0"/>
            <a:ext cx="228600" cy="6858000"/>
          </a:xfrm>
          <a:prstGeom prst="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894585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17531</TotalTime>
  <Words>5770</Words>
  <Application>Microsoft Office PowerPoint</Application>
  <PresentationFormat>Grand écran</PresentationFormat>
  <Paragraphs>457</Paragraphs>
  <Slides>21</Slides>
  <Notes>21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Segoe UI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Caroline MS</dc:creator>
  <cp:keywords/>
  <dc:description>generated using python-pptx</dc:description>
  <cp:lastModifiedBy>Caroline Heymes</cp:lastModifiedBy>
  <cp:revision>27</cp:revision>
  <dcterms:created xsi:type="dcterms:W3CDTF">2013-01-27T09:14:16Z</dcterms:created>
  <dcterms:modified xsi:type="dcterms:W3CDTF">2026-08-19T08:21:20Z</dcterms:modified>
  <cp:category/>
</cp:coreProperties>
</file>